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פתיחה. המצפן הוא אזור חדש בתוך האזור האישי, ובשלב זה הוא פתוח למשפחות שכולות בלבד. אפשר לפתוח באמירה שהמטרה היא שלא יצטרכו לחפש מה מגיע להם.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סדר היום. החלק הגדול הוא היכרות עם המצפן; ההגשה של חשבוניות בסוף.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היכולות. שווה להתעכב על "לגלות" — זה החידוש האמיתי מול המצב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למי הוא פתוח. חשוב לומר את זה במפורש, כדי שלא ייצא מישהו מהכנס ויחפש אצלו משהו שלא קיים.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הכניסה. אותו אזור אישי מוכר; המצפן יושב בתוכו, בתפריט הצד.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המסך הראשי. זה המסך שחוזרים אליו בכל פעם. ארבעת האזורים לפי הסדר.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ההטבות שלי. מכאן נכנסים להטבה אחת. אם המסך ריק — לא בהכרח אין זכאות; המצפן מציג שנתיים אחורה.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דף ההטבה. אותו מבנה בכל הטבה, כך שאחרי פעם אחת יודעים איפה להסתכל.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הסטטוסים. זה השקף שהכי נשאלים עליו. שווה לעצור בו.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התמונה המלאה. נפתחת מ"פרטים נוספים" בהטבה פעילה.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ההטבות הפוטנציאליות. לכל אחד רשימה אחרת. שני הכפתורים — ההבדל ביניהם חוזר בשאלות.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אחרי ההגשה. להדגיש: אין צורך להגיש שוב, ואין כאן אישור אוטומטי.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מעבר לחלק השני — הגשת חשבונית או קבלה. חלק קצר.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למה דרך המצפן. הנקודה המרכזית: ההגשה נכנסת להטבה הנכונה, ואפשר לעקוב.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אפשר ומה לא. השקף הזה עונה מראש על "ניסיתי ולא הצלחתי".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הדרך החלופית. שישה שלבים; שווה להראות את המסך.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הטופס. אותם שלושה שלבים בשתי הדרכים.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מעבר לשאלות ותשובות.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שאלות על כניסה ועל מה שרואים.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שאלות על סטטוסים ומעקב.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שאלות על בקשות והגשות.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סיום. להפנות לסרטונים ולמדריכים, ולהשאיר את ה-QR על המסך בזמן השאלות.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4" y="475488"/>
            <a:ext cx="155448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24028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9EC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הביטוח הלאומי · אגף שיקום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606040"/>
            <a:ext cx="11055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758184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הזכויות וההטבות שלך, במקום אחד באזור האישי.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290304" y="502920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4477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290304" y="50292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למשפחות שכולות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נעבור היום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114032" y="169164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14032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36776"/>
            <a:ext cx="6382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המצפן, ולמי הוא פתוח בשלב זה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14032" y="2295144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14032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240280"/>
            <a:ext cx="6382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נכנסים אליו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14032" y="2898648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14032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843784"/>
            <a:ext cx="6382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המסך הראשי — ארבעה אזורים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114032" y="3502152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14032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447288"/>
            <a:ext cx="6382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ההטבה, הסטטוסים, והתמונה המלאה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114032" y="4105656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14032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050792"/>
            <a:ext cx="6382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בקשה להטבה חדשה, ומה קורה אחרי שמגישים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14032" y="470916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14032" y="4709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654296"/>
            <a:ext cx="6382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הגשת חשבונית או קבלה דרך המצפן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14032" y="5312664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14032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257800"/>
            <a:ext cx="6382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ותשובות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863840" y="1691640"/>
            <a:ext cx="3758184" cy="4206240"/>
          </a:xfrm>
          <a:prstGeom prst="roundRect">
            <a:avLst>
              <a:gd name="adj" fmla="val 2433"/>
            </a:avLst>
          </a:prstGeom>
          <a:solidFill>
            <a:srgbClr val="F1F5FA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92440" y="1965960"/>
            <a:ext cx="3300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הרעיון בשורה אחת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2377440"/>
            <a:ext cx="33009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לחפש מה מגיע לך, המצפן מציג את זה מראש — לפי הנתונים האישיים שלך, עם הסטטוס של כל הטבה ואפשרות להגיש בקשה או קבלה מאותו מקום.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מצפן הזכויות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דברים שאפשר לעשות בו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77356" y="1737360"/>
            <a:ext cx="53446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53344" y="2121408"/>
            <a:ext cx="566928" cy="5669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753344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51676" y="2048256"/>
            <a:ext cx="40645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לגלות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514600"/>
            <a:ext cx="40645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הטבות שאתה עשוי להיות זכאי להן, ולהגיש בקשה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53446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42916" y="2121408"/>
            <a:ext cx="566928" cy="5669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42916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048256"/>
            <a:ext cx="40645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לעקוב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514600"/>
            <a:ext cx="40645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 כל בקשה שהגשת, ולראות את הסטטוס שלה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77356" y="3840480"/>
            <a:ext cx="53446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53344" y="4224528"/>
            <a:ext cx="566928" cy="5669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53344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4151376"/>
            <a:ext cx="40645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לראות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4617720"/>
            <a:ext cx="40645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מימשת מכל הטבה וכמה נותר לך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3840480"/>
            <a:ext cx="53446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2916" y="4224528"/>
            <a:ext cx="566928" cy="566928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42916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151376"/>
            <a:ext cx="40645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להגיש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617720"/>
            <a:ext cx="40645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חשבוניות וקבלות להחזר, ישירות מהמצפן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למי המצפן פתוח בשלב זה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5096" cy="1600200"/>
          </a:xfrm>
          <a:prstGeom prst="roundRect">
            <a:avLst>
              <a:gd name="adj" fmla="val 5714"/>
            </a:avLst>
          </a:prstGeom>
          <a:solidFill>
            <a:srgbClr val="14477E"/>
          </a:solidFill>
          <a:ln w="12700">
            <a:solidFill>
              <a:srgbClr val="1447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37360"/>
            <a:ext cx="110550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בשלב זה — למשפחות שכולות בלבד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427464" y="3749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בהמשך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749040"/>
            <a:ext cx="85862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המצפן ייפתח לאוכלוסיות נוספות, ובהן נכי פעולות איבה.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427464" y="45902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ילדים קטינים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590288"/>
            <a:ext cx="85862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הורה שמקבל הטבות עבור ילדיו רואה אותן בתוך המצפן שלו, באזור "הצגת הטבות עבור".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427464" y="54315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לא רואים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431536"/>
            <a:ext cx="85862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ששייך לקבוצה ועדיין לא רואה את המצפן — מוזמן לפנות אלינו.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נכנסים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מסכים, ואתם בפנים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45152" y="182880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64515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נכנסים לאזור האישי באתר הביטוח הלאומי.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45152" y="274320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4515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88336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בתפריט הצד בוחרים "מצפן הזכויות שלי", ואז "כניסה למצפן הזכויות".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45152" y="365760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602736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בעמוד שנפתח לוחצים על הכפתור הכחול.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F1F5FA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4892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הכתובת: ps.btl.gov.il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257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אזור אישי שכבר מוכר לכם — המצפן יושב בתוכו.</a:t>
            </a:r>
            <a:endParaRPr lang="en-US" sz="1400" dirty="0"/>
          </a:p>
        </p:txBody>
      </p:sp>
      <p:pic>
        <p:nvPicPr>
          <p:cNvPr id="17" name="Image 0" descr="/home/user/mazpen-m.r/build/deck/assets/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9047" y="1600200"/>
            <a:ext cx="600177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המסך הראשי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אזורים — וזה המסך שנחזור אליו בכל פעם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pic>
        <p:nvPicPr>
          <p:cNvPr id="5" name="Image 0" descr="/home/user/mazpen-m.r/build/deck/assets/z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80" y="1508760"/>
            <a:ext cx="7253056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237976" y="1600200"/>
            <a:ext cx="384048" cy="384048"/>
          </a:xfrm>
          <a:prstGeom prst="ellipse">
            <a:avLst/>
          </a:prstGeom>
          <a:solidFill>
            <a:srgbClr val="E8842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3797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581912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הצגת הטבות עבור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1901952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עבור מי להציג. מופיע רק להורים לילדים קטינים.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1237976" y="27340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237976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715768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3035808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שם ההטבה או לפי נושא — דיור, רכב, טיפול רפואי.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1237976" y="3867912"/>
            <a:ext cx="384048" cy="384048"/>
          </a:xfrm>
          <a:prstGeom prst="ellipse">
            <a:avLst/>
          </a:prstGeom>
          <a:solidFill>
            <a:srgbClr val="8E3BB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237976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849624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ההטבות שלי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169664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שכבר ביקשת, או שכבר אושר לך.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1237976" y="5001768"/>
            <a:ext cx="384048" cy="384048"/>
          </a:xfrm>
          <a:prstGeom prst="ellipse">
            <a:avLst/>
          </a:prstGeom>
          <a:solidFill>
            <a:srgbClr val="2A9BD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237976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98348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ההטבות הפוטנציאליות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5303520"/>
            <a:ext cx="28620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ההטבות שאתה עשוי להיות זכאי להן.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ההטבות שלי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מכאן נכנסים להטבה אחת ורואים מה קורה בה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pic>
        <p:nvPicPr>
          <p:cNvPr id="5" name="Image 0" descr="/home/user/mazpen-m.r/build/deck/asse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5289" y="1554480"/>
            <a:ext cx="6466326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מופיע כאן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2128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ההטבות שכבר ביקשת, או שכבר אושרו לך.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הטבה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53872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פותחת את דף ההטבה שלה, עם הסטטוס והפרטים.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480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ריק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8646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המצפן מציג הטבות מהשנתיים האחרונות. אז כדאי לבדוק את ההטבות הפוטנציאליות.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ההטבה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מבנה בכל הטבה, כך שתמיד יודעים איפה להסתכל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pic>
        <p:nvPicPr>
          <p:cNvPr id="5" name="Image 0" descr="/home/user/mazpen-m.r/build/deck/assets/bene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9576"/>
            <a:ext cx="7040880" cy="4450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219688" y="182880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1968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1773936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ההטבה והקטגוריה, בראש הדף.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219688" y="274320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219688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688336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תיבת ההסבר — מה ההטבה נותנת, כמה, ובאיזה תנאי.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1219688" y="365760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219688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3602736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ההטבה: הסטטוס, הסכום, תקופת הזכאות.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219688" y="457200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19688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4517136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"פרטים נוספים" פותח את התמונה המלאה.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אומר מה מצב ההטבה, ומה אפשר לעשות בה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18904" y="1865376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518904" y="18653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8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865376"/>
            <a:ext cx="8403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הגשת בקשה ועדיין לא התקבלה החלטה. אין צורך להגיש שוב.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624328"/>
            <a:ext cx="1105509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18904" y="2798064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518904" y="279806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798064"/>
            <a:ext cx="8403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ההטבה אושרה, התקופה לא חלפה ויש בה יתרה. אפשר להגיש קבלות.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3557016"/>
            <a:ext cx="1105509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8904" y="3730752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18904" y="37307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4E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730752"/>
            <a:ext cx="8403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נוצלה במלואה, או שתקופת הזכאות חלפה. אי אפשר להגיש בה קבלות.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4489704"/>
            <a:ext cx="1105509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18904" y="4663440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BE8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518904" y="46634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A8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663440"/>
            <a:ext cx="8403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נדחתה. סיבת הדחייה מופיעה על כרטיס ההטבה.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5422392"/>
            <a:ext cx="11055096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18904" y="5596128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EFE8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518904" y="5596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5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596128"/>
            <a:ext cx="8403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עדיין לא ביקשת וייתכן שאתה זכאי. אפשר להגיש בקשה.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התמונה המלאה של ההטבה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הכול על הטבה אחת, במסך אחד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pic>
        <p:nvPicPr>
          <p:cNvPr id="5" name="Image 0" descr="/home/user/mazpen-m.r/build/deck/assets/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6843" y="1508760"/>
            <a:ext cx="4863379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85232" y="178308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28523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728216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פרטי ההטבה — הסטטוס, תקופת הזכאות, הסכום וסוג התשלום.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85232" y="2807208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285232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752344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מימוש — כמה כבר שולם, וכמה נותר לממש.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85232" y="3831336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285232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3776472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הכפתור הכחול — להגשת חשבונית או קבלה חדשה.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85232" y="4855464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285232" y="4855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4800600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להחזר — כל קבלה שהגשת, והסטטוס שלה.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ההטבות הפוטנציאליות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שעדיין לא ביקשת, ואולי מגיע לך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pic>
        <p:nvPicPr>
          <p:cNvPr id="5" name="Image 0" descr="/home/user/mazpen-m.r/build/deck/assets/poten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337" y="1508760"/>
            <a:ext cx="6268278" cy="2514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41148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מבוטח רשימה אחרת, לפי הנתונים האישיים שלו. בכל הטבה מופיע אחד משני הכפתורים — וכל אחד פותח מסך אחר: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77356" y="4663440"/>
            <a:ext cx="53446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1F7A4D"/>
            </a:solidFill>
            <a:prstDash val="solid"/>
          </a:ln>
        </p:spPr>
      </p:sp>
      <p:pic>
        <p:nvPicPr>
          <p:cNvPr id="8" name="Image 1" descr="/home/user/mazpen-m.r/build/deck/assets/btn_requ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632" y="4846320"/>
            <a:ext cx="1442545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33388" y="4846320"/>
            <a:ext cx="33329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בכרטיס כתוב "לבדיקת זכאות חדשה". נפתח טופס בקשה בן שלושה שלבים.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66928" y="4663440"/>
            <a:ext cx="53446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</p:spPr>
      </p:sp>
      <p:pic>
        <p:nvPicPr>
          <p:cNvPr id="11" name="Image 2" descr="/home/user/mazpen-m.r/build/deck/assets/btn_inqui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204" y="4846320"/>
            <a:ext cx="1442545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4846320"/>
            <a:ext cx="33329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בכרטיס כתוב "אפשר לפנות לעובד השיקום". נפתחת פנייה לגורם המקצועי.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אחרי שהגשת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180832" y="1920240"/>
            <a:ext cx="344119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07624" y="2240280"/>
            <a:ext cx="603504" cy="603504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07624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73440" y="3063240"/>
            <a:ext cx="2855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נקלטת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473440" y="3749040"/>
            <a:ext cx="2855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מופיעה הודעת אישור, והבקשה מופיעה במצפן.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3880" y="1920240"/>
            <a:ext cx="344119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0672" y="2240280"/>
            <a:ext cx="603504" cy="603504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0672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6488" y="3063240"/>
            <a:ext cx="2855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הוא "בטיפול"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66488" y="3749040"/>
            <a:ext cx="2855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ומתעדכן שם לבד. אין צורך לעשות דבר.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1920240"/>
            <a:ext cx="344119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93720" y="2240280"/>
            <a:ext cx="603504" cy="603504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93720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3063240"/>
            <a:ext cx="285597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בסיום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" y="3749040"/>
            <a:ext cx="2855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משתנה ל"אושרה" או ל"נדחתה", ובבקשות להחזר יופיע הסכום שאושר לתשלום.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34924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הגשת בקשה אינה אישור אוטומטי. הזכאות נבדקת לפי הקריטריונים שנקבעו בחוק.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4" y="475488"/>
            <a:ext cx="155448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24028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9EC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החלק השני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2606040"/>
            <a:ext cx="11055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הגשת חשבונית או קבלה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758184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דרך המצפן, מה אפשר דרכו, ואיפה מגישים כשאי אפשר.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דווקא דרך המצפן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180832" y="1828800"/>
            <a:ext cx="344119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73440" y="2194560"/>
            <a:ext cx="28559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ישר לתיק שלך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73440" y="3108960"/>
            <a:ext cx="28559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ההגשה נכנסת להטבה הנכונה, בלי תחנת ביניים.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73880" y="1828800"/>
            <a:ext cx="344119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6488" y="2194560"/>
            <a:ext cx="28559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רואים מה קרה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66488" y="3108960"/>
            <a:ext cx="28559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קבלה מופיעה עם התאריך, הסכום וסטטוס הטיפול בה.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1828800"/>
            <a:ext cx="344119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2194560"/>
            <a:ext cx="28559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הכול במקום אחד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3108960"/>
            <a:ext cx="28559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לצרף כמה חשבוניות לאותה בקשה, ולפתוח כל קבלה שהוגשה.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539496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לעומת שליחה כללית של מסמך, שמגיעה לתיק ולא להטבה — ואי אפשר לעקוב אחריה מהמצפן.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אפשר דרך המצפן — ואיפה כן, כשאי אפשר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323076" y="1645920"/>
            <a:ext cx="529894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920240"/>
            <a:ext cx="47503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דרך המצפן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450592"/>
            <a:ext cx="47503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בהטבה בסטטוס "פעילה" — הכפתור הכחול "להגשת חשבונית / קבלה חדשה".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בהטבה פוטנציאלית שבה מופיע הכפתור "הגשת בקשה".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חשבוניות לאותה בקשה, בטופס אחד.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29894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7B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920240"/>
            <a:ext cx="47503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DC7B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כשאי אפשר — איפה כן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450592"/>
            <a:ext cx="475030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בהטבה שהסתיימה או נדחתה אין כפתור הגשה.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בהטבה פוטנציאלית שבה כתוב "שליחת פנייה" — ההגשה אינה במצפן.</a:t>
            </a:r>
            <a:endParaRPr lang="en-US" sz="16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במקרים האלה מגישים דרך "העלאת מסמכים" באזור האישי — בשקף הבא.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כשלא מופיע "הגשת בקשה"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ההגשה נעשית דרך "העלאת מסמכים" באזור האישי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pic>
        <p:nvPicPr>
          <p:cNvPr id="5" name="Image 0" descr="/home/user/mazpen-m.r/build/deck/asset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750" y="1600200"/>
            <a:ext cx="6589557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219688" y="178308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21968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72821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בתפריט "פעולות באתר" — העלאת מסמכים.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1219688" y="2441448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219688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386584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נושא: שיקום.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1219688" y="3099816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219688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044952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קטגוריה: פניות.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219688" y="3758184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219688" y="3758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370332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מסמך: פנייה.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1219688" y="4416552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219688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4361688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צרף קובץ — החשבונית או הקבלה.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1219688" y="5074920"/>
            <a:ext cx="402336" cy="402336"/>
          </a:xfrm>
          <a:prstGeom prst="ellipse">
            <a:avLst/>
          </a:prstGeom>
          <a:solidFill>
            <a:srgbClr val="14477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219688" y="5074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092440" y="5020056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שלח מסמך.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ההגשה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טופס בשתי הדרכים — שלושה שלבים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pic>
        <p:nvPicPr>
          <p:cNvPr id="5" name="Image 0" descr="/home/user/mazpen-m.r/build/deck/assets/for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981" y="1645920"/>
            <a:ext cx="3342895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80832" y="4480560"/>
            <a:ext cx="3441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180832" y="4864608"/>
            <a:ext cx="3441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בודקים את פרטי ההטבה ולוחצים "הבא".</a:t>
            </a:r>
            <a:endParaRPr lang="en-US" sz="1500" dirty="0"/>
          </a:p>
        </p:txBody>
      </p:sp>
      <p:pic>
        <p:nvPicPr>
          <p:cNvPr id="8" name="Image 1" descr="/home/user/mazpen-m.r/build/deck/assets/for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096" y="1645920"/>
            <a:ext cx="2420759" cy="2651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73880" y="4480560"/>
            <a:ext cx="3441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2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373880" y="4864608"/>
            <a:ext cx="3441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מצרפים את הקובץ, וממלאים מספר, תאריך וסכום כולל מע״מ.</a:t>
            </a:r>
            <a:endParaRPr lang="en-US" sz="1500" dirty="0"/>
          </a:p>
        </p:txBody>
      </p:sp>
      <p:pic>
        <p:nvPicPr>
          <p:cNvPr id="11" name="Image 2" descr="/home/user/mazpen-m.r/build/deck/assets/form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75" y="1645920"/>
            <a:ext cx="2701298" cy="2651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6928" y="4480560"/>
            <a:ext cx="3441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66928" y="4864608"/>
            <a:ext cx="3441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קוראים את ההצהרה, מסמנים, חותמים ושולחים.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4" y="475488"/>
            <a:ext cx="155448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606040"/>
            <a:ext cx="110550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ותשובות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758184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F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התשובות שלהלן הן אלה שחוזרות הכי הרבה.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ותשובות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כניסה, ומה רואים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37944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לא מוצא את "מצפן הזכויות שלי" בתפריט. למה?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40280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בשלב זה המצפן מוצג רק למשפחות שכולות. בהמשך הוא ייפתח לאוכלוסיות נוספות. מי ששייך ועדיין לא רואה — מוזמן לפנות אלינו.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3319272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רואה את המצפן אבל אין בו הטבות.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721608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המצפן מציג הטבות מהשנתיים האחרונות. אם לא הוגשו בקשות בתקופה זו, "ההטבות שלי" יהיה ריק — כדאי לבדוק את ההטבות הפוטנציאליות.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654296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4800600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הטבה שאני מקבל לא מופיעה במצפן. איבדתי אותה?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5202936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לא. המצפן נבנה בהדרגה והטבות מתווספות אליו. הזכאות אינה תלויה במה שמוצג בו.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ותשובות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סטטוסים ומעקב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37944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ההבדל בין "פעילה" ל"הסתיימה"?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40280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"פעילה" היא הטבה מאושרת שנשארה בה יתרה, ואפשר להגיש בה קבלות. "הסתיימה" היא הטבה שנוצלה במלואה, או שתקופת הזכאות שלה חלפה.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3319272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שלי בסטטוס "בטיפול" כבר הרבה זמן.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721608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"בטיפול" אומר שהבקשה התקבלה ועדיין לא התקבלה בה החלטה. אין צורך להגיש שוב.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654296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4800600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יודעים כמה עוד נשאר לנצל?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5202936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בדף ההטבה, באזור "סיכום מימוש", מופיע הסכום ששולם, מה שנותר, והסכום הכולל.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ותשובות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24128"/>
            <a:ext cx="11055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5A6E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והגשות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37944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ההבדל בין "הגשת בקשה" ל"שליחת פנייה"?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240280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תלוי בהטבה. "הגשת בקשה" פותחת טופס בן שלושה שלבים שהמערכת בודקת. "שליחת פנייה" נשלחת לעובד השיקום, והזכאות נבדקת מולו.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72968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" y="3319272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האם הגשת הבקשה מבטיחה שאקבל את ההטבה?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721608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לא. הגשת בקשה אינה אישור אוטומטי. הזכאות נבדקת לפי הקריטריונים שנקבעו בחוק ובהתאם למסמכים שהוגשו.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4654296"/>
            <a:ext cx="11055096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4800600"/>
            <a:ext cx="10469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447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אילו מסמכים צריך לצרף?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5202936"/>
            <a:ext cx="10469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253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משתנה מהטבה להטבה. יש הטבות שדורשות קבלה בלבד, ויש שדורשות מסמכים נוספים. המסמכים הנדרשים יפורטו בטופס.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9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7544" y="475488"/>
            <a:ext cx="155448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1051560"/>
            <a:ext cx="11055096" cy="894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 למבוטחים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415784" y="23317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9EC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סרטוני הסבר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3931920" y="2377440"/>
            <a:ext cx="33009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B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הסבר כללי (4 דקות), והגשת חשבונית או קבלה (3 דקות).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15784" y="33832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9EC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מדריכים כתובים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3429000"/>
            <a:ext cx="33009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B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גרסת A4 להדפסה, וגרסה לטלפון.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15784" y="44348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9EC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 ותשובות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4480560"/>
            <a:ext cx="33009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CBDC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רשימה מלאה, לעדכון לפי מה שיישאל בשטח.</a:t>
            </a:r>
            <a:endParaRPr lang="en-US" sz="1500" dirty="0"/>
          </a:p>
        </p:txBody>
      </p:sp>
      <p:pic>
        <p:nvPicPr>
          <p:cNvPr id="10" name="Image 1" descr="/home/user/mazpen-m.r/build/deck/assets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68880"/>
            <a:ext cx="1783080" cy="1783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" y="43708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ps.btl.gov.il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553212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2026-09-07T10:29:23Z</dcterms:created>
  <dcterms:modified xsi:type="dcterms:W3CDTF">2026-09-07T10:29:23Z</dcterms:modified>
</cp:coreProperties>
</file>