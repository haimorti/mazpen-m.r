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פתיחה. המצפן נועד לרכז עבור המבוטח, במקום אחד, תמונה מלאה של הזכויות וההטבות המגיעות לו כנפגע איבה.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השקף שהכי חשוב לעובד. בלעדיו הוא עלול לאשר בטעות אמירה שגויה של המבוטח.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אפשר להצביע על המסך ולעבור אזור אזור. השמות הם השמות שהמבוטח יגיד בטלפון.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הרמה הראשונה. כל מה שמופיע כאן נמצא בצילום המסך שעל השקף. היתרה למימוש והסטטוסים המלאים נמצאים רק אחרי לחיצה על "פרטים נוספים".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הנימוק שנבחר באישור ההחלטה הוא הטקסט שהמבוטח קורא. שווה לומר את זה במפורש.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ההסברים על השקף הם הנוסח שהמצפן עצמו מציג למבוטח.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הרובוט מפענח כל מסמך שמגיע מהמצפן, גם כזה שאינו חשבונית או קבלה.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יש שקף אחד שצריך לצאת מהכנס — זה הוא.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אפשר לחלק את השקף הזה כדף אחד, לתלייה ליד המסך.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azpen-m.r/build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502920"/>
            <a:ext cx="1828800" cy="6675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1488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8FC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אגף שיקום · מדריך לעובד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560320"/>
            <a:ext cx="10817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אתר מצפן אישי</a:t>
            </a:r>
            <a:endParaRPr lang="en-US" sz="6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794760"/>
            <a:ext cx="10817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3D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המבוטח רואה, ומה זה משנה בעבודה שלנו.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נעבור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תחנות, ואז שאלות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267712" y="3108960"/>
            <a:ext cx="7589520" cy="18288"/>
          </a:xfrm>
          <a:prstGeom prst="rect">
            <a:avLst/>
          </a:prstGeom>
          <a:solidFill>
            <a:srgbClr val="CFE0D5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0" y="2862072"/>
            <a:ext cx="512064" cy="512064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0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11312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רואה מה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8394192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אוכלוסיות, ומה מוצג להן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06440" y="2862072"/>
            <a:ext cx="512064" cy="512064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416552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רואה במסך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4599432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המבנה, הסטטוסים, וההגשה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011680" y="2862072"/>
            <a:ext cx="512064" cy="512064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11680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משנה אצלנו</a:t>
            </a:r>
            <a:endParaRPr lang="en-US" sz="23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המסמך, והכללים שחייבים לזכור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4937760"/>
            <a:ext cx="108173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493776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C7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השלישי הוא העיקר. </a:t>
            </a:r>
            <a:pPr algn="r" indent="0" marL="0">
              <a:buNone/>
            </a:pPr>
            <a:r>
              <a:rPr lang="en-US" sz="17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הראשונים נועדו כדי שנוכל לנהל שיחה על מסך שאנחנו לא רואים מול העיניים.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רואה, ומה אנחנו רואים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הפער הזה הוא הדבר החשוב ביותר במצגת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368796" y="1691640"/>
            <a:ext cx="5134356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20320">
            <a:solidFill>
              <a:srgbClr val="14477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88836" y="1938528"/>
            <a:ext cx="4494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המבוטח, במצפן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936224" y="2615184"/>
            <a:ext cx="128016" cy="12801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88836" y="2505456"/>
            <a:ext cx="41742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תכניות מהשנתיים האחרונות בלבד.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936224" y="3236976"/>
            <a:ext cx="128016" cy="12801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88836" y="3127248"/>
            <a:ext cx="41742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הטבות שכבר הוטמעו במצפן.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936224" y="3858768"/>
            <a:ext cx="128016" cy="12801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88836" y="3749040"/>
            <a:ext cx="41742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סטטוס, תקופת זכאות, סוג תשלום ויתרה למימוש.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85800" y="1691640"/>
            <a:ext cx="5134356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20320">
            <a:solidFill>
              <a:srgbClr val="2C7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1938528"/>
            <a:ext cx="4494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2C7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אנחנו, בתיק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253228" y="2615184"/>
            <a:ext cx="128016" cy="12801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5840" y="2505456"/>
            <a:ext cx="41742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התיק כולו, בלי מגבלת שנתיים.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253228" y="3236976"/>
            <a:ext cx="128016" cy="12801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3127248"/>
            <a:ext cx="41742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הטבות שעדיין לא מוצגות במצפן.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253228" y="3858768"/>
            <a:ext cx="128016" cy="12801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5840" y="3749040"/>
            <a:ext cx="41742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הנימוקים, ההחלטות והמשימות שמאחורי הסטטוס.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85800" y="4663440"/>
            <a:ext cx="10817352" cy="1188720"/>
          </a:xfrm>
          <a:prstGeom prst="roundRect">
            <a:avLst>
              <a:gd name="adj" fmla="val 9231"/>
            </a:avLst>
          </a:prstGeom>
          <a:solidFill>
            <a:srgbClr val="FBEFE6"/>
          </a:solidFill>
          <a:ln w="20320">
            <a:solidFill>
              <a:srgbClr val="B85C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51560" y="4846320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B85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כשמבוטח אומר "זה לא מופיע במצפן, אז זה לא מגיע לי" — זו טעות.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5285232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המצפן מציג שנתיים אחורה, והוא נבנה בהדרגה. הזכאות אינה תלויה במה שמוצג בו — וזה מה שצריך לומר לו.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אוכלוסיות רואות את המצפן בשלב זה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368796" y="1691640"/>
            <a:ext cx="5134356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0320">
            <a:solidFill>
              <a:srgbClr val="14477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88836" y="1920240"/>
            <a:ext cx="4494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בוגרים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688836" y="2514600"/>
            <a:ext cx="44942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נפגעי פעולות איבה (נכים)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688836" y="2843784"/>
            <a:ext cx="44942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 להם תיק איבה והכרה.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688836" y="3447288"/>
            <a:ext cx="44942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משפחות שכולות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88836" y="3776472"/>
            <a:ext cx="44942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 להן בדלפק שורה של נפגעי איבה — "תלוי".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1691640"/>
            <a:ext cx="5134356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0320">
            <a:solidFill>
              <a:srgbClr val="2C7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1920240"/>
            <a:ext cx="4494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2C7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קטינים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514600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 שיש לו תיק באיבה או בשיקום עם הטבה פעילה, וההורה המוכר כנפגע איבה מקבל עבורו את התשלומים.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657600"/>
            <a:ext cx="44942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ההורה רואה את ההטבות של הילד בתוך המצפן שלו, באזור "הצגת הטבות עבור".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4892040"/>
            <a:ext cx="108173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489204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ששייך לאחת הקבוצות ועדיין לא רואה את המצפן — מפנים אותו אלינו. אין צורך שיגיש שוב שום דבר.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המצפן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נושאים — וזה המסך שהוא חוזר אליו בכל פעם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pic>
        <p:nvPicPr>
          <p:cNvPr id="6" name="Image 1" descr="/home/user/mazpen-m.r/build/deck/assets/z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54" y="1554480"/>
            <a:ext cx="6534931" cy="4160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119104" y="1691640"/>
            <a:ext cx="384048" cy="384048"/>
          </a:xfrm>
          <a:prstGeom prst="ellipse">
            <a:avLst/>
          </a:prstGeom>
          <a:solidFill>
            <a:srgbClr val="E884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1191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16642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הצגת הטבות עבור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199339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בן המשפחה שעבורו רואים מידע. מוצג רק כשיש ילדים קטינים שההטבה מתקבלת עבורם.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1119104" y="2734056"/>
            <a:ext cx="384048" cy="384048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119104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27066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קטגוריות חיפוש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303580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הטבה לפי שם, או לפי נושא: טיפול או אביזר רפואי, שיקום מקצועי, רווחה ועוד.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1119104" y="3776472"/>
            <a:ext cx="384048" cy="384048"/>
          </a:xfrm>
          <a:prstGeom prst="ellipse">
            <a:avLst/>
          </a:prstGeom>
          <a:solidFill>
            <a:srgbClr val="8E3BB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1119104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595360" y="37490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ההטבות שלי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407822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הטבות כבר שולמו, מהי היתרה שנותרה לניצול, ומעקב אחר סטטוס הטיפול בבקשות שהוגשו.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119104" y="4818888"/>
            <a:ext cx="384048" cy="384048"/>
          </a:xfrm>
          <a:prstGeom prst="ellipse">
            <a:avLst/>
          </a:prstGeom>
          <a:solidFill>
            <a:srgbClr val="2A9B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119104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595360" y="47914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הטבות פוטנציאליות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1206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מגוון הטבות שייתכן שמגיעות לך, עם אפשרות להגיש בקשה מהירה לבדיקת הזכאות.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595360" y="562356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ההסברים התחתונים הם הנוסח שהמצפן עצמו מציג למבוטח.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ההטבות שלי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רמה ראשונה: מה שרואים ברשימה, לפני שנכנסים פנימה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pic>
        <p:nvPicPr>
          <p:cNvPr id="6" name="Image 1" descr="/home/user/mazpen-m.r/build/deck/assets/bene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43" y="1444752"/>
            <a:ext cx="6799315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572768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בלשון המצפן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732520" y="1874520"/>
            <a:ext cx="2770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61120" y="1874520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הטבות כבר שולמו, מהי היתרה שנותרה לניצול, ומעקב אחר סטטוס הטיפול בבקשות שהוגשו.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8732520" y="3456432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ומה מופיע בכל שורה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1320272" y="3886200"/>
            <a:ext cx="109728" cy="1097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732520" y="376732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 ההטבה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1320272" y="4270248"/>
            <a:ext cx="109728" cy="1097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732520" y="41513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תקופת הזכאות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1320272" y="4654296"/>
            <a:ext cx="109728" cy="1097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732520" y="453542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סכום ההטבה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320272" y="5038344"/>
            <a:ext cx="109728" cy="1097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732520" y="491947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כמות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1320272" y="5422392"/>
            <a:ext cx="109728" cy="1097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732520" y="530352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התשלום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1320272" y="5806440"/>
            <a:ext cx="109728" cy="1097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732520" y="5687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"פרטים נוספים"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85800" y="5870448"/>
            <a:ext cx="10817352" cy="457200"/>
          </a:xfrm>
          <a:prstGeom prst="roundRect">
            <a:avLst>
              <a:gd name="adj" fmla="val 24000"/>
            </a:avLst>
          </a:prstGeom>
          <a:solidFill>
            <a:srgbClr val="FBEFE6"/>
          </a:solidFill>
          <a:ln w="17780">
            <a:solidFill>
              <a:srgbClr val="B85C2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587044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B85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ב"ההטבות שלי" מוצגות תכניות מהשנתיים האחרונות בלבד.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סטטוסים, מסלול אחד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 השפה שהמבוטח רואה, ולכן זו השפה שבה נדבר איתו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833372" y="1837944"/>
            <a:ext cx="8503920" cy="18288"/>
          </a:xfrm>
          <a:prstGeom prst="rect">
            <a:avLst/>
          </a:prstGeom>
          <a:solidFill>
            <a:srgbClr val="CFE0D5"/>
          </a:solidFill>
          <a:ln/>
        </p:spPr>
      </p:sp>
      <p:sp>
        <p:nvSpPr>
          <p:cNvPr id="7" name="Shape 4"/>
          <p:cNvSpPr/>
          <p:nvPr/>
        </p:nvSpPr>
        <p:spPr>
          <a:xfrm>
            <a:off x="9171432" y="1572768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EFE8F8"/>
          </a:solidFill>
          <a:ln w="19050">
            <a:solidFill>
              <a:srgbClr val="5E3A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045952" y="1755648"/>
            <a:ext cx="182880" cy="182880"/>
          </a:xfrm>
          <a:prstGeom prst="ellipse">
            <a:avLst/>
          </a:prstGeom>
          <a:solidFill>
            <a:srgbClr val="5E3A9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36024" y="157276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5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71432" y="22860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טרם הוגשה ותיתכן בה זכאות. אפשר להגיש דרך האתר האישי.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759952" y="1746504"/>
            <a:ext cx="310896" cy="201168"/>
          </a:xfrm>
          <a:prstGeom prst="leftArrow">
            <a:avLst/>
          </a:prstGeom>
          <a:solidFill>
            <a:srgbClr val="CFE0D5"/>
          </a:solidFill>
          <a:ln/>
        </p:spPr>
      </p:sp>
      <p:sp>
        <p:nvSpPr>
          <p:cNvPr id="12" name="Shape 9"/>
          <p:cNvSpPr/>
          <p:nvPr/>
        </p:nvSpPr>
        <p:spPr>
          <a:xfrm>
            <a:off x="6336792" y="1572768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19050">
            <a:solidFill>
              <a:srgbClr val="8A5B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11312" y="1755648"/>
            <a:ext cx="182880" cy="182880"/>
          </a:xfrm>
          <a:prstGeom prst="ellipse">
            <a:avLst/>
          </a:prstGeom>
          <a:solidFill>
            <a:srgbClr val="8A5B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01384" y="157276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8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36792" y="22860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הוגשה וטרם התקבלה בה החלטה.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25312" y="1746504"/>
            <a:ext cx="310896" cy="201168"/>
          </a:xfrm>
          <a:prstGeom prst="leftArrow">
            <a:avLst/>
          </a:prstGeom>
          <a:solidFill>
            <a:srgbClr val="CFE0D5"/>
          </a:solidFill>
          <a:ln/>
        </p:spPr>
      </p:sp>
      <p:sp>
        <p:nvSpPr>
          <p:cNvPr id="17" name="Shape 14"/>
          <p:cNvSpPr/>
          <p:nvPr/>
        </p:nvSpPr>
        <p:spPr>
          <a:xfrm>
            <a:off x="3502152" y="1572768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 w="19050">
            <a:solidFill>
              <a:srgbClr val="1F6E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76672" y="1755648"/>
            <a:ext cx="182880" cy="182880"/>
          </a:xfrm>
          <a:prstGeom prst="ellipse">
            <a:avLst/>
          </a:prstGeom>
          <a:solidFill>
            <a:srgbClr val="1F6E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66744" y="157276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502152" y="22860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אושרה, ויש בה יתרה. אפשר להגיש בה קבלות להחזר.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090672" y="1746504"/>
            <a:ext cx="310896" cy="201168"/>
          </a:xfrm>
          <a:prstGeom prst="leftArrow">
            <a:avLst/>
          </a:prstGeom>
          <a:solidFill>
            <a:srgbClr val="CFE0D5"/>
          </a:solidFill>
          <a:ln/>
        </p:spPr>
      </p:sp>
      <p:sp>
        <p:nvSpPr>
          <p:cNvPr id="22" name="Shape 19"/>
          <p:cNvSpPr/>
          <p:nvPr/>
        </p:nvSpPr>
        <p:spPr>
          <a:xfrm>
            <a:off x="667512" y="1572768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19050">
            <a:solidFill>
              <a:srgbClr val="4E5F7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42032" y="1755648"/>
            <a:ext cx="182880" cy="182880"/>
          </a:xfrm>
          <a:prstGeom prst="ellipse">
            <a:avLst/>
          </a:prstGeom>
          <a:solidFill>
            <a:srgbClr val="4E5F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32104" y="157276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4E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22860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נותרה בה יתרה, ולא ניתן להגיש בה קבלות נוספות.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488936" y="3054096"/>
            <a:ext cx="27432" cy="320040"/>
          </a:xfrm>
          <a:prstGeom prst="rect">
            <a:avLst/>
          </a:prstGeom>
          <a:solidFill>
            <a:srgbClr val="CFE0D5"/>
          </a:solidFill>
          <a:ln/>
        </p:spPr>
      </p:sp>
      <p:sp>
        <p:nvSpPr>
          <p:cNvPr id="27" name="Shape 24"/>
          <p:cNvSpPr/>
          <p:nvPr/>
        </p:nvSpPr>
        <p:spPr>
          <a:xfrm>
            <a:off x="6336792" y="3374136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FBE8E6"/>
          </a:solidFill>
          <a:ln w="19050">
            <a:solidFill>
              <a:srgbClr val="A8281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11312" y="3557016"/>
            <a:ext cx="182880" cy="182880"/>
          </a:xfrm>
          <a:prstGeom prst="ellipse">
            <a:avLst/>
          </a:prstGeom>
          <a:solidFill>
            <a:srgbClr val="A828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501384" y="3374136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A8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3273552" y="3419856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 מאישור ההחלטה מופיעה כאן, והמבוטח קורא אותה.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406908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וכך זה נראה במסך: הסטטוס פותח כל שורה של הטבה, בעמוד שנפתח מ"ההטבות שלי".</a:t>
            </a:r>
            <a:endParaRPr lang="en-US" sz="1500" dirty="0"/>
          </a:p>
        </p:txBody>
      </p:sp>
      <p:pic>
        <p:nvPicPr>
          <p:cNvPr id="32" name="Image 1" descr="/home/user/mazpen-m.r/build/deck/assets/status_ro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017" y="4480560"/>
            <a:ext cx="5828918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"פרטים נוספים": התמונה המלאה של התכנית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רמה שנייה: לחיצה שנייה, מתוך שורת ההטבה, פותחת את כל מה שיש בתכנית אחת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pic>
        <p:nvPicPr>
          <p:cNvPr id="6" name="Image 1" descr="/home/user/mazpen-m.r/build/deck/assets/emp_deta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226" y="1554480"/>
            <a:ext cx="5060300" cy="4297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93792" y="1783080"/>
            <a:ext cx="384048" cy="384048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19379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755648"/>
            <a:ext cx="4361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 ההטבה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84832"/>
            <a:ext cx="436168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משקף את התכנית שאושרה בתיק השיקום — סטטוס, תקופה, סכום וסוג תשלום.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193792" y="3154680"/>
            <a:ext cx="384048" cy="384048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93792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127248"/>
            <a:ext cx="4361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מימוש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456432"/>
            <a:ext cx="436168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 עם סכום ההטבה או כמות הטיפולים: כמה נוצל וכמה עוד ניתן לנצל.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193792" y="4526280"/>
            <a:ext cx="384048" cy="384048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193792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498848"/>
            <a:ext cx="4361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להחזר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4828032"/>
            <a:ext cx="436168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קבלה שהוגשה — מספר, סכום, הסכום שאושר, והורדה של הקבלה עצמה.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54406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C7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כאן, ורק כאן, מופיעים סיכום המימוש והיתרה שנותרה. ברשימה עצמה הם אינם מוצגים.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הטבות פוטנציאליות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הפרופיל האישי, ומה קורה כשהוא לוחץ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85800" y="1600200"/>
            <a:ext cx="108173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60020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מגוון הטבות שייתכן שמגיעות לך, עם אפשרות להגיש בקשה מהירה לבדיקת הזכאות.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המצפן עצמו מסביר את האזור הזה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68796" y="2926080"/>
            <a:ext cx="513435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0320">
            <a:solidFill>
              <a:srgbClr val="1F7A4D"/>
            </a:solidFill>
            <a:prstDash val="solid"/>
          </a:ln>
        </p:spPr>
      </p:sp>
      <p:pic>
        <p:nvPicPr>
          <p:cNvPr id="10" name="Image 1" descr="/home/user/mazpen-m.r/build/deck/assets/btn_requ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472" y="3127248"/>
            <a:ext cx="1586799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61404" y="3703320"/>
            <a:ext cx="45491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מקוון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61404" y="4114800"/>
            <a:ext cx="45491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נכנסת כטופס מקוון ומגיעה אלינו לטיפול.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85800" y="2926080"/>
            <a:ext cx="513435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0320">
            <a:solidFill>
              <a:srgbClr val="6B3FA0"/>
            </a:solidFill>
            <a:prstDash val="solid"/>
          </a:ln>
        </p:spPr>
      </p:sp>
      <p:pic>
        <p:nvPicPr>
          <p:cNvPr id="14" name="Image 2" descr="/home/user/mazpen-m.r/build/deck/assets/btn_inqui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476" y="3127248"/>
            <a:ext cx="1586799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78408" y="3703320"/>
            <a:ext cx="45491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שליחת פנייה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978408" y="4114800"/>
            <a:ext cx="45491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הפנייה נשלחת למקום המתאים: מוקד רכב, דיור, או עובד השיקום.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85800" y="5166360"/>
            <a:ext cx="10817352" cy="1097280"/>
          </a:xfrm>
          <a:prstGeom prst="roundRect">
            <a:avLst>
              <a:gd name="adj" fmla="val 10000"/>
            </a:avLst>
          </a:prstGeom>
          <a:solidFill>
            <a:srgbClr val="FBEFE6"/>
          </a:solidFill>
          <a:ln w="19050">
            <a:solidFill>
              <a:srgbClr val="B85C2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51560" y="5285232"/>
            <a:ext cx="10085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85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לתשומת ליבך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051560" y="557784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לעיתים, אותה הטבה תופיע גם ב"ההטבות שלי" וגם ב"הטבות פוטנציאליות". מצב זה קורה כאשר קיימת אפשרות להרחיב את ההטבה, למשל לבקש זכאות עבור תקופה נוספת או עבור בן משפחה נוסף.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הגשת חשבונית או קבלה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מקומות שמהם אפשר להגיש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368796" y="1645920"/>
            <a:ext cx="513435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F6E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61404" y="1810512"/>
            <a:ext cx="45491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מתכנית פעילה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661404" y="2240280"/>
            <a:ext cx="45491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בדף ההטבה, בכפתור "להגשת חשבונית / קבלה חדשה".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85800" y="1645920"/>
            <a:ext cx="513435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5E3A9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78408" y="1810512"/>
            <a:ext cx="45491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5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מהטבה פוטנציאלית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978408" y="2240280"/>
            <a:ext cx="45491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כאשר כפתור הפעולה שם הוא "הגשת בקשה".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95544" y="3429000"/>
            <a:ext cx="402336" cy="402336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95544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4015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נפתח טופס מקוון עם פרטיו, כולל היתרה למימוש.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495544" y="4206240"/>
            <a:ext cx="402336" cy="402336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95544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1788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מצרף את המסמכים הרלוונטיים לאותה הטבה.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5495544" y="4983480"/>
            <a:ext cx="402336" cy="402336"/>
          </a:xfrm>
          <a:prstGeom prst="ellipse">
            <a:avLst/>
          </a:prstGeom>
          <a:solidFill>
            <a:srgbClr val="2C7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95544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9560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לאחר השליחה מופיעה הודעת אישור.</a:t>
            </a:r>
            <a:endParaRPr lang="en-US" sz="1650" dirty="0"/>
          </a:p>
        </p:txBody>
      </p:sp>
      <p:pic>
        <p:nvPicPr>
          <p:cNvPr id="21" name="Image 1" descr="/home/user/mazpen-m.r/build/deck/assets/emp_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413091"/>
            <a:ext cx="5193792" cy="1677739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85800" y="5760720"/>
            <a:ext cx="10817352" cy="566928"/>
          </a:xfrm>
          <a:prstGeom prst="roundRect">
            <a:avLst>
              <a:gd name="adj" fmla="val 19355"/>
            </a:avLst>
          </a:prstGeom>
          <a:solidFill>
            <a:srgbClr val="FBEFE6"/>
          </a:solidFill>
          <a:ln w="17780">
            <a:solidFill>
              <a:srgbClr val="B85C2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0120" y="576072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המסמכים הנדרשים משתנים מהטבה להטבה ומפורטים בטופס. הודעת האישור אומרת שהפנייה נקלטה, לא שהזכאות אושרה.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azpen-m.r/build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57200"/>
            <a:ext cx="1554480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176272"/>
            <a:ext cx="10817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8FC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השלישי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560320"/>
            <a:ext cx="10817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משנה בעבודה שלנו</a:t>
            </a:r>
            <a:endParaRPr lang="en-US" sz="5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61188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C3D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המסמך מהמצפן אל התיק — והכללים שחייבים לזכור.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המסמך מהמצפן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העבודה בתיק השיקום לטפסים המקוונים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382012" y="2249424"/>
            <a:ext cx="7498080" cy="18288"/>
          </a:xfrm>
          <a:prstGeom prst="rect">
            <a:avLst/>
          </a:prstGeom>
          <a:solidFill>
            <a:srgbClr val="CFE0D5"/>
          </a:solidFill>
          <a:ln/>
        </p:spPr>
      </p:sp>
      <p:sp>
        <p:nvSpPr>
          <p:cNvPr id="7" name="Shape 4"/>
          <p:cNvSpPr/>
          <p:nvPr/>
        </p:nvSpPr>
        <p:spPr>
          <a:xfrm>
            <a:off x="9605772" y="1984248"/>
            <a:ext cx="548640" cy="548640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5772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57032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המבוטח מגיש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439912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מקוון מהמצפן, עם המסמכים.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856732" y="1984248"/>
            <a:ext cx="548640" cy="548640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6732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07992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רובוט מפענח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690872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מסמך שמגיע מהמצפן — גם מסמך שאינו חשבונית או קבלה.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107692" y="1984248"/>
            <a:ext cx="548640" cy="548640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07692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" y="2679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החלטה למגשרת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כשיש תכנית פתוחה.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85800" y="4206240"/>
            <a:ext cx="10817352" cy="1417320"/>
          </a:xfrm>
          <a:prstGeom prst="roundRect">
            <a:avLst>
              <a:gd name="adj" fmla="val 7742"/>
            </a:avLst>
          </a:prstGeom>
          <a:solidFill>
            <a:srgbClr val="FBEFE6"/>
          </a:solidFill>
          <a:ln w="20320">
            <a:solidFill>
              <a:srgbClr val="B85C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51560" y="4370832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B85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תכניות שאינן עוברות למגשרת: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4773168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תכנית ליווי אישית ליתומים (תל"א)   ·   התערבות לרווחה רגשית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קבלה שהועלתה לתכנית לא מתאימה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מצבים — ולכל אחד טיפול אחר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368796" y="1645920"/>
            <a:ext cx="513435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0320">
            <a:solidFill>
              <a:srgbClr val="2C7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88836" y="187452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2C7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המגשרת שמה לב בפענוח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0936224" y="2578608"/>
            <a:ext cx="128016" cy="12801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88836" y="2468880"/>
            <a:ext cx="41742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משנה את השיוך ומשייכת להטבה קיימת, או פותחת חדשה בעזרת +.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936224" y="3538728"/>
            <a:ext cx="128016" cy="12801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88836" y="3429000"/>
            <a:ext cx="41742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בעת הפענוח היא רואה את יתרת סכום התכנית, כדי לשייך במדויק.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936224" y="4498848"/>
            <a:ext cx="128016" cy="12801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88836" y="4389120"/>
            <a:ext cx="41742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המבוטח יראה במצפן: "בקשה זו הועברה לטיפול בהטבה X".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85800" y="1645920"/>
            <a:ext cx="513435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0320">
            <a:solidFill>
              <a:srgbClr val="B85C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187452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B85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העו"ס מגלה בפתיחת התכנית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253228" y="2578608"/>
            <a:ext cx="128016" cy="128016"/>
          </a:xfrm>
          <a:prstGeom prst="ellipse">
            <a:avLst/>
          </a:prstGeom>
          <a:solidFill>
            <a:srgbClr val="B85C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5840" y="2468880"/>
            <a:ext cx="41742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לפתוח את התכנית — גם אם היא שגויה.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253228" y="3538728"/>
            <a:ext cx="128016" cy="128016"/>
          </a:xfrm>
          <a:prstGeom prst="ellipse">
            <a:avLst/>
          </a:prstGeom>
          <a:solidFill>
            <a:srgbClr val="B85C2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3429000"/>
            <a:ext cx="41742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לדחות אותה עם הנימוק "התכנית שנבחרה אינה מתאימה להטבה המבוקשת".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253228" y="4498848"/>
            <a:ext cx="128016" cy="128016"/>
          </a:xfrm>
          <a:prstGeom prst="ellipse">
            <a:avLst/>
          </a:prstGeom>
          <a:solidFill>
            <a:srgbClr val="B85C2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5840" y="4389120"/>
            <a:ext cx="41742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לפתוח תכנית שכן מתאימה למסמך, ולסרוק את המסמך מחדש.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577840"/>
            <a:ext cx="10817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 משתקף למבוטח במצפן, בזמן אמת.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azpen-m.r/build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57200"/>
            <a:ext cx="1554480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6916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8FC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 שאסור לשכוח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10312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העו"ס תמיד לפתוח תכנית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063240"/>
            <a:ext cx="10817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3D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כשברור שהתכנית שנבחרה שגויה.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85800" y="3840480"/>
            <a:ext cx="10817352" cy="1143000"/>
          </a:xfrm>
          <a:prstGeom prst="roundRect">
            <a:avLst>
              <a:gd name="adj" fmla="val 9600"/>
            </a:avLst>
          </a:prstGeom>
          <a:solidFill>
            <a:srgbClr val="2A4A3E"/>
          </a:solidFill>
          <a:ln w="17780">
            <a:solidFill>
              <a:srgbClr val="8FC7A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51560" y="3840480"/>
            <a:ext cx="100858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לא פותחים את התכנית — היא נעלמת מהמצפן. </a:t>
            </a:r>
            <a:pPr algn="r" indent="0" marL="0">
              <a:buNone/>
            </a:pPr>
            <a:r>
              <a:rPr lang="en-US" sz="1900" dirty="0">
                <a:solidFill>
                  <a:srgbClr val="E4F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המבוטח מגיש, ואז לא רואה כלום. משם מתחילות הפניות.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2578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← דוחים עם הנימוק המתאים ← פותחים תכנית נכונה ← סורקים מחדש.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וזה מה שהמבוטח רואה בינתיים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0704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הפעולה שלנו מופיעה אצלו כטקסט, מילה במילה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pic>
        <p:nvPicPr>
          <p:cNvPr id="6" name="Image 1" descr="/home/user/mazpen-m.r/build/deck/assets/emp_mov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90" y="1828800"/>
            <a:ext cx="9013371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41208" y="3566160"/>
            <a:ext cx="336194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415528" y="3794760"/>
            <a:ext cx="2813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8415528" y="4224528"/>
            <a:ext cx="2813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הנימוק שנבחר באישור ההחלטה הוא הטקסט שהוא קורא. שווה לבחור אותו בקפידה.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413504" y="3566160"/>
            <a:ext cx="336194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687824" y="3794760"/>
            <a:ext cx="2813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ההעברה להטבה אחרת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4687824" y="4224528"/>
            <a:ext cx="2813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מופיעה אצלו כ"בקשה זו הועברה לטיפול בהטבה X" — הוא יודע שהקבלה לא אבדה.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3566160"/>
            <a:ext cx="336194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60120" y="3794760"/>
            <a:ext cx="2813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צורך שיגיש שוב</a:t>
            </a:r>
            <a:endParaRPr lang="en-US" sz="175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4224528"/>
            <a:ext cx="2813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וזה מה שנאמר לו כשהוא מתקשר לשאול.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דברים שיש לשים לב אליהם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מדריך לעובד · אגף שיקום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85800" y="1920240"/>
            <a:ext cx="108173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844784" y="2267712"/>
            <a:ext cx="438912" cy="438912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44784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084832"/>
            <a:ext cx="9582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"ההטבות שלי" מציג שנתיים אחורה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87168"/>
            <a:ext cx="9582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הטבה שאינה מופיעה שם אינה בהכרח הטבה שאין עליה זכאות.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3246120"/>
            <a:ext cx="108173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44784" y="3593592"/>
            <a:ext cx="438912" cy="438912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844784" y="3593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410712"/>
            <a:ext cx="9582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חשבונית שהוגשה לתכנית לא מתאימה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813048"/>
            <a:ext cx="9582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פותחים את התכנית שאליה הוגשה, דוחים אותה עם הנימוק המתאים, ופותחים את התכנית הנכונה.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85800" y="4572000"/>
            <a:ext cx="108173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844784" y="4919472"/>
            <a:ext cx="438912" cy="438912"/>
          </a:xfrm>
          <a:prstGeom prst="ellipse">
            <a:avLst/>
          </a:prstGeom>
          <a:solidFill>
            <a:srgbClr val="1447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844784" y="491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736592"/>
            <a:ext cx="9582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נימוקי הדחייה נקראים על ידי המבוטח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5138928"/>
            <a:ext cx="9582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הנימוק שנבחר באישור ההחלטה מוצג לו כלשונו במצפן.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azpen-m.r/build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57200"/>
            <a:ext cx="1554480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377440"/>
            <a:ext cx="10817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365760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C3D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ומה שנשמע מכם בשטח — חוזר אלינו ונכנס לגרסה הבאה של המצפן.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2026-09-08T07:48:18Z</dcterms:created>
  <dcterms:modified xsi:type="dcterms:W3CDTF">2026-09-08T07:48:18Z</dcterms:modified>
</cp:coreProperties>
</file>