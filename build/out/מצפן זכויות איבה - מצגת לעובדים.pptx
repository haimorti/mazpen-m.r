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פתיחה. המצפן נועד לרכז עבור המבוטח, במקום אחד, תמונה מלאה של הזכויות וההטבות המגיעות לו כנפגע איבה.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השקף שהכי חשוב לעובד. בלעדיו הוא עלול לאשר בטעות אמירה שגויה של המבוטח.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אפשר להצביע על המסך ולעבור אזור אזור. השמות הם השמות שהמבוטח יגיד בטלפון.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הנימוק שנבחר באישור ההחלטה הוא טקסט שהמבוטח יקרא. שווה לומר את זה במפורש.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הרובוט מפענח כל מסמך שמגיע מהמצפן, גם כזה שאינו חשבונית או קבלה.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אם יש שקף אחד שצריך לצאת מהכנס — זה הוא.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אפשר לחלק את השקף הזה כדף אחד, לתלייה ליד המסך.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/home/user/mazpen-m.r/build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502920"/>
            <a:ext cx="1828800" cy="66751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2148840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8FC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אגף שיקום · מדריך לעובד</a:t>
            </a:r>
            <a:endParaRPr lang="en-US" sz="1800" dirty="0"/>
          </a:p>
        </p:txBody>
      </p:sp>
      <p:sp>
        <p:nvSpPr>
          <p:cNvPr id="5" name="Text 1"/>
          <p:cNvSpPr txBox="1"/>
          <p:nvPr/>
        </p:nvSpPr>
        <p:spPr>
          <a:xfrm>
            <a:off x="685800" y="2560320"/>
            <a:ext cx="1081735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אתר מצפן אישי</a:t>
            </a:r>
            <a:endParaRPr lang="en-US" sz="6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3794760"/>
            <a:ext cx="108173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200" dirty="0">
                <a:solidFill>
                  <a:srgbClr val="C3D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המבוטח רואה, ומה זה משנה בעבודה שלנו.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נעבור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60704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תחנות, ואז שאלות</a:t>
            </a:r>
            <a:endParaRPr lang="en-US" sz="15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מצפן זכויות איבה · מדריך לעובד · אגף שיקום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2267712" y="3108960"/>
            <a:ext cx="7589520" cy="18288"/>
          </a:xfrm>
          <a:prstGeom prst="rect">
            <a:avLst/>
          </a:prstGeom>
          <a:solidFill>
            <a:srgbClr val="CFE0D5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0" y="2862072"/>
            <a:ext cx="512064" cy="512064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0" y="28620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11312" y="3520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רואה מה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8394192" y="39776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 אוכלוסיות, ומה מוצג להן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806440" y="2862072"/>
            <a:ext cx="512064" cy="512064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06440" y="28620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416552" y="3520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הוא רואה במסך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4599432" y="39776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המבנה, הסטטוסים, וההגשה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2011680" y="2862072"/>
            <a:ext cx="512064" cy="512064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11680" y="28620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" y="3520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משנה אצלנו</a:t>
            </a:r>
            <a:endParaRPr lang="en-US" sz="23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9776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 המסמך, והכללים שחייבים לזכור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85800" y="4937760"/>
            <a:ext cx="1081735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937760"/>
            <a:ext cx="101772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C7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החלק השלישי הוא העיקר. </a:t>
            </a:r>
            <a:pPr algn="r" indent="0" marL="0">
              <a:buNone/>
            </a:pPr>
            <a:r>
              <a:rPr lang="en-US" sz="170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הראשונים נועדו כדי שנוכל לנהל שיחה על מסך שאנחנו לא רואים מול העיניים.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הוא רואה, ומה אנחנו רואים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60704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הפער הזה הוא הדבר החשוב ביותר במצגת</a:t>
            </a:r>
            <a:endParaRPr lang="en-US" sz="15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מצפן זכויות איבה · מדריך לעובד · אגף שיקום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368796" y="1691640"/>
            <a:ext cx="5134356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0320">
            <a:solidFill>
              <a:srgbClr val="14477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88836" y="1938528"/>
            <a:ext cx="44942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המבוטח, במצפן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936224" y="2615184"/>
            <a:ext cx="128016" cy="128016"/>
          </a:xfrm>
          <a:prstGeom prst="ellipse">
            <a:avLst/>
          </a:prstGeom>
          <a:solidFill>
            <a:srgbClr val="14477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88836" y="2505456"/>
            <a:ext cx="417423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תכניות מהשנתיים האחרונות בלבד.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10936224" y="3236976"/>
            <a:ext cx="128016" cy="128016"/>
          </a:xfrm>
          <a:prstGeom prst="ellipse">
            <a:avLst/>
          </a:prstGeom>
          <a:solidFill>
            <a:srgbClr val="14477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88836" y="3127248"/>
            <a:ext cx="417423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הטבות שכבר הוטמעו במצפן.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10936224" y="3858768"/>
            <a:ext cx="128016" cy="128016"/>
          </a:xfrm>
          <a:prstGeom prst="ellipse">
            <a:avLst/>
          </a:prstGeom>
          <a:solidFill>
            <a:srgbClr val="14477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88836" y="3749040"/>
            <a:ext cx="417423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סטטוס, תקופת זכאות, סוג תשלום ויתרה למימוש.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685800" y="1691640"/>
            <a:ext cx="5134356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0320">
            <a:solidFill>
              <a:srgbClr val="2C7A5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1938528"/>
            <a:ext cx="44942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2C7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אנחנו, בתיק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253228" y="2615184"/>
            <a:ext cx="128016" cy="128016"/>
          </a:xfrm>
          <a:prstGeom prst="ellipse">
            <a:avLst/>
          </a:prstGeom>
          <a:solidFill>
            <a:srgbClr val="2C7A5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05840" y="2505456"/>
            <a:ext cx="417423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 התיק כולו, בלי מגבלת שנתיים.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5253228" y="3236976"/>
            <a:ext cx="128016" cy="128016"/>
          </a:xfrm>
          <a:prstGeom prst="ellipse">
            <a:avLst/>
          </a:prstGeom>
          <a:solidFill>
            <a:srgbClr val="2C7A5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05840" y="3127248"/>
            <a:ext cx="417423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הטבות שעדיין לא מוצגות במצפן.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253228" y="3858768"/>
            <a:ext cx="128016" cy="128016"/>
          </a:xfrm>
          <a:prstGeom prst="ellipse">
            <a:avLst/>
          </a:prstGeom>
          <a:solidFill>
            <a:srgbClr val="2C7A5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05840" y="3749040"/>
            <a:ext cx="417423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 הנימוקים, ההחלטות והמשימות שמאחורי הסטטוס.</a:t>
            </a:r>
            <a:endParaRPr lang="en-US" sz="1550" dirty="0"/>
          </a:p>
        </p:txBody>
      </p:sp>
      <p:sp>
        <p:nvSpPr>
          <p:cNvPr id="22" name="Shape 19"/>
          <p:cNvSpPr/>
          <p:nvPr/>
        </p:nvSpPr>
        <p:spPr>
          <a:xfrm>
            <a:off x="685800" y="4663440"/>
            <a:ext cx="10817352" cy="1188720"/>
          </a:xfrm>
          <a:prstGeom prst="roundRect">
            <a:avLst>
              <a:gd name="adj" fmla="val 9231"/>
            </a:avLst>
          </a:prstGeom>
          <a:solidFill>
            <a:srgbClr val="FBEFE6"/>
          </a:solidFill>
          <a:ln w="20320">
            <a:solidFill>
              <a:srgbClr val="B85C2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51560" y="4846320"/>
            <a:ext cx="10085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B85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כשמבוטח אומר "זה לא מופיע במצפן, אז זה לא מגיע לי" — זו טעות.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1051560" y="5285232"/>
            <a:ext cx="10085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המצפן מציג שנתיים אחורה, והוא נבנה בהדרגה. הזכאות אינה תלויה במה שמוצג בו — וזה מה שצריך לומר לו.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 אוכלוסיות רואות את המצפן בשלב זה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מצפן זכויות איבה · מדריך לעובד · אגף שיקום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6368796" y="1691640"/>
            <a:ext cx="5134356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0320">
            <a:solidFill>
              <a:srgbClr val="14477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88836" y="1920240"/>
            <a:ext cx="44942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בוגרים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688836" y="2514600"/>
            <a:ext cx="44942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נפגעי פעולות איבה (נכים)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688836" y="2843784"/>
            <a:ext cx="44942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שיש להם תיק איבה והכרה.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688836" y="3447288"/>
            <a:ext cx="44942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משפחות שכולות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688836" y="3776472"/>
            <a:ext cx="44942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שיש להן בדלפק שורה של נפגעי איבה — "תלוי".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85800" y="1691640"/>
            <a:ext cx="5134356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0320">
            <a:solidFill>
              <a:srgbClr val="2C7A5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05840" y="1920240"/>
            <a:ext cx="44942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2C7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קטינים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2514600"/>
            <a:ext cx="449427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מי שיש לו תיק באיבה או בשיקום עם הטבה פעילה, וההורה המוכר כנפגע איבה מקבל עבורו את התשלומים.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3657600"/>
            <a:ext cx="449427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ההורה רואה את ההטבות של הילד בתוך המצפן שלו, באזור "הצגת הטבות עבור".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85800" y="4892040"/>
            <a:ext cx="1081735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4892040"/>
            <a:ext cx="101772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ששייך לאחת הקבוצות ועדיין לא רואה את המצפן — מפנים אותו אלינו. אין צורך שיגיש שוב שום דבר.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המצפן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60704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נושאים — וזה המסך שהוא חוזר אליו בכל פעם</a:t>
            </a:r>
            <a:endParaRPr lang="en-US" sz="15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מצפן זכויות איבה · מדריך לעובד · אגף שיקום</a:t>
            </a:r>
            <a:endParaRPr lang="en-US" sz="1000" dirty="0"/>
          </a:p>
        </p:txBody>
      </p:sp>
      <p:pic>
        <p:nvPicPr>
          <p:cNvPr id="6" name="Image 1" descr="/home/user/mazpen-m.r/build/deck/assets/zon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954" y="1554480"/>
            <a:ext cx="6534931" cy="41605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119104" y="1691640"/>
            <a:ext cx="384048" cy="384048"/>
          </a:xfrm>
          <a:prstGeom prst="ellipse">
            <a:avLst/>
          </a:prstGeom>
          <a:solidFill>
            <a:srgbClr val="E884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1119104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1664208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הצגת הטבות עבור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95360" y="1993392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בן המשפחה שעבורו רואים מידע. מוצג רק כשיש ילדים קטינים שההטבה מתקבלת עבורם.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1119104" y="2734056"/>
            <a:ext cx="384048" cy="384048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119104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595360" y="2706624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קטגוריות חיפוש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3035808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חיפוש הטבה לפי שם או לפי נושא — טיפול או אביזר רפואי, שיקום מקצועי, רווחה ועוד.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1119104" y="3776472"/>
            <a:ext cx="384048" cy="384048"/>
          </a:xfrm>
          <a:prstGeom prst="ellipse">
            <a:avLst/>
          </a:prstGeom>
          <a:solidFill>
            <a:srgbClr val="8E3BB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1119104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595360" y="3749040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ההטבות שלי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8595360" y="4078224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ההטבות שהמבוטח הגיש, והסטטוס של כל אחת.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119104" y="4818888"/>
            <a:ext cx="384048" cy="384048"/>
          </a:xfrm>
          <a:prstGeom prst="ellipse">
            <a:avLst/>
          </a:prstGeom>
          <a:solidFill>
            <a:srgbClr val="2A9B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119104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595360" y="4791456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הטבות פוטנציאליות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8595360" y="512064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הטבות שייתכן שהוא זכאי להן ועדיין לא ביקש.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ההטבות שלי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60704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תכניות מתיק השיקום — מה בדיוק מוצג בכל שורה</a:t>
            </a:r>
            <a:endParaRPr lang="en-US" sz="15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מצפן זכויות איבה · מדריך לעובד · אגף שיקום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85800" y="1691640"/>
            <a:ext cx="630936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60520" y="16916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תאריך ההגשה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1691640"/>
            <a:ext cx="3291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הוגשה הבקשה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85800" y="2478024"/>
            <a:ext cx="630936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60520" y="2478024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סטטוס הטיפול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2478024"/>
            <a:ext cx="3291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אושרה · אושרה חלקית · נדחתה · בטיפול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85800" y="3264408"/>
            <a:ext cx="630936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160520" y="326440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תקופת הזכאות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3264408"/>
            <a:ext cx="3291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מאיזה תאריך ההטבה בתוקף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85800" y="4050792"/>
            <a:ext cx="630936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160520" y="4050792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סוג התשלום</a:t>
            </a:r>
            <a:endParaRPr lang="en-US" sz="165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4050792"/>
            <a:ext cx="3291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חודשי · שנתי · חד-פעמי · הכפוף להחזר הוצאות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85800" y="4837176"/>
            <a:ext cx="630936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60520" y="4837176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היתרה למימוש</a:t>
            </a:r>
            <a:endParaRPr lang="en-US" sz="165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4837176"/>
            <a:ext cx="3291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נותר, בגרף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685800" y="5623560"/>
            <a:ext cx="6309360" cy="658368"/>
          </a:xfrm>
          <a:prstGeom prst="roundRect">
            <a:avLst>
              <a:gd name="adj" fmla="val 16667"/>
            </a:avLst>
          </a:prstGeom>
          <a:solidFill>
            <a:srgbClr val="FBEFE6"/>
          </a:solidFill>
          <a:ln w="19050">
            <a:solidFill>
              <a:srgbClr val="B85C2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562356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B85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מוצגות תכניות מהשנתיים האחרונות בלבד.</a:t>
            </a:r>
            <a:endParaRPr lang="en-US" sz="1700" dirty="0"/>
          </a:p>
        </p:txBody>
      </p:sp>
      <p:pic>
        <p:nvPicPr>
          <p:cNvPr id="23" name="Image 1" descr="/home/user/mazpen-m.r/build/deck/assets/benef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654089"/>
            <a:ext cx="4187952" cy="26471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חמישה סטטוסים, מסלול אחד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60704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זו השפה שהמבוטח רואה — ולכן זו השפה שבה נדבר איתו</a:t>
            </a:r>
            <a:endParaRPr lang="en-US" sz="15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מצפן זכויות איבה · מדריך לעובד · אגף שיקום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833372" y="2414016"/>
            <a:ext cx="8503920" cy="18288"/>
          </a:xfrm>
          <a:prstGeom prst="rect">
            <a:avLst/>
          </a:prstGeom>
          <a:solidFill>
            <a:srgbClr val="CFE0D5"/>
          </a:solidFill>
          <a:ln/>
        </p:spPr>
      </p:sp>
      <p:sp>
        <p:nvSpPr>
          <p:cNvPr id="7" name="Shape 4"/>
          <p:cNvSpPr/>
          <p:nvPr/>
        </p:nvSpPr>
        <p:spPr>
          <a:xfrm>
            <a:off x="9171432" y="2148840"/>
            <a:ext cx="2331720" cy="548640"/>
          </a:xfrm>
          <a:prstGeom prst="roundRect">
            <a:avLst>
              <a:gd name="adj" fmla="val 50000"/>
            </a:avLst>
          </a:prstGeom>
          <a:solidFill>
            <a:srgbClr val="EFE8F8"/>
          </a:solidFill>
          <a:ln w="19050">
            <a:solidFill>
              <a:srgbClr val="5E3A9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045952" y="2331720"/>
            <a:ext cx="182880" cy="182880"/>
          </a:xfrm>
          <a:prstGeom prst="ellipse">
            <a:avLst/>
          </a:prstGeom>
          <a:solidFill>
            <a:srgbClr val="5E3A9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336024" y="214884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5E3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פוטנציאלי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71432" y="2898648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טרם הוגשה ותיתכן בה זכאות. אפשר להגיש דרך האתר האישי.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759952" y="2322576"/>
            <a:ext cx="310896" cy="201168"/>
          </a:xfrm>
          <a:prstGeom prst="leftArrow">
            <a:avLst/>
          </a:prstGeom>
          <a:solidFill>
            <a:srgbClr val="CFE0D5"/>
          </a:solidFill>
          <a:ln/>
        </p:spPr>
      </p:sp>
      <p:sp>
        <p:nvSpPr>
          <p:cNvPr id="12" name="Shape 9"/>
          <p:cNvSpPr/>
          <p:nvPr/>
        </p:nvSpPr>
        <p:spPr>
          <a:xfrm>
            <a:off x="6336792" y="2148840"/>
            <a:ext cx="2331720" cy="548640"/>
          </a:xfrm>
          <a:prstGeom prst="roundRect">
            <a:avLst>
              <a:gd name="adj" fmla="val 50000"/>
            </a:avLst>
          </a:prstGeom>
          <a:solidFill>
            <a:srgbClr val="FFF1CF"/>
          </a:solidFill>
          <a:ln w="19050">
            <a:solidFill>
              <a:srgbClr val="8A5B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11312" y="2331720"/>
            <a:ext cx="182880" cy="182880"/>
          </a:xfrm>
          <a:prstGeom prst="ellipse">
            <a:avLst/>
          </a:prstGeom>
          <a:solidFill>
            <a:srgbClr val="8A5B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01384" y="214884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8A5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בטיפול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336792" y="2898648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הוגשה וטרם התקבלה בה החלטה.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925312" y="2322576"/>
            <a:ext cx="310896" cy="201168"/>
          </a:xfrm>
          <a:prstGeom prst="leftArrow">
            <a:avLst/>
          </a:prstGeom>
          <a:solidFill>
            <a:srgbClr val="CFE0D5"/>
          </a:solidFill>
          <a:ln/>
        </p:spPr>
      </p:sp>
      <p:sp>
        <p:nvSpPr>
          <p:cNvPr id="17" name="Shape 14"/>
          <p:cNvSpPr/>
          <p:nvPr/>
        </p:nvSpPr>
        <p:spPr>
          <a:xfrm>
            <a:off x="3502152" y="2148840"/>
            <a:ext cx="2331720" cy="548640"/>
          </a:xfrm>
          <a:prstGeom prst="roundRect">
            <a:avLst>
              <a:gd name="adj" fmla="val 50000"/>
            </a:avLst>
          </a:prstGeom>
          <a:solidFill>
            <a:srgbClr val="E3F3E9"/>
          </a:solidFill>
          <a:ln w="19050">
            <a:solidFill>
              <a:srgbClr val="1F6E4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672" y="2331720"/>
            <a:ext cx="182880" cy="182880"/>
          </a:xfrm>
          <a:prstGeom prst="ellipse">
            <a:avLst/>
          </a:prstGeom>
          <a:solidFill>
            <a:srgbClr val="1F6E4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666744" y="214884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1F6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פעילה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502152" y="2898648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אושרה, ויש בה יתרה. אפשר להגיש בה קבלות להחזר.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090672" y="2322576"/>
            <a:ext cx="310896" cy="201168"/>
          </a:xfrm>
          <a:prstGeom prst="leftArrow">
            <a:avLst/>
          </a:prstGeom>
          <a:solidFill>
            <a:srgbClr val="CFE0D5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" y="2148840"/>
            <a:ext cx="2331720" cy="548640"/>
          </a:xfrm>
          <a:prstGeom prst="roundRect">
            <a:avLst>
              <a:gd name="adj" fmla="val 50000"/>
            </a:avLst>
          </a:prstGeom>
          <a:solidFill>
            <a:srgbClr val="E8EEF4"/>
          </a:solidFill>
          <a:ln w="19050">
            <a:solidFill>
              <a:srgbClr val="4E5F7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42032" y="2331720"/>
            <a:ext cx="182880" cy="182880"/>
          </a:xfrm>
          <a:prstGeom prst="ellipse">
            <a:avLst/>
          </a:prstGeom>
          <a:solidFill>
            <a:srgbClr val="4E5F7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32104" y="214884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4E5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הסתיימה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67512" y="2898648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נותרה בה יתרה, ולא ניתן להגיש בה קבלות נוספות.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7488936" y="3977640"/>
            <a:ext cx="27432" cy="566928"/>
          </a:xfrm>
          <a:prstGeom prst="rect">
            <a:avLst/>
          </a:prstGeom>
          <a:solidFill>
            <a:srgbClr val="CFE0D5"/>
          </a:solidFill>
          <a:ln/>
        </p:spPr>
      </p:sp>
      <p:sp>
        <p:nvSpPr>
          <p:cNvPr id="27" name="Shape 24"/>
          <p:cNvSpPr/>
          <p:nvPr/>
        </p:nvSpPr>
        <p:spPr>
          <a:xfrm>
            <a:off x="6336792" y="4544568"/>
            <a:ext cx="2331720" cy="548640"/>
          </a:xfrm>
          <a:prstGeom prst="roundRect">
            <a:avLst>
              <a:gd name="adj" fmla="val 50000"/>
            </a:avLst>
          </a:prstGeom>
          <a:solidFill>
            <a:srgbClr val="FBE8E6"/>
          </a:solidFill>
          <a:ln w="19050">
            <a:solidFill>
              <a:srgbClr val="A8281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11312" y="4727448"/>
            <a:ext cx="182880" cy="182880"/>
          </a:xfrm>
          <a:prstGeom prst="ellipse">
            <a:avLst/>
          </a:prstGeom>
          <a:solidFill>
            <a:srgbClr val="A8281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501384" y="4544568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A82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נדחתה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3273552" y="4581144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הבקשה נדחתה, וסיבת הדחייה מאישור ההחלטה מופיעה כאן — המבוטח קורא אותה.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9171432" y="4343400"/>
            <a:ext cx="2331720" cy="960120"/>
          </a:xfrm>
          <a:prstGeom prst="roundRect">
            <a:avLst>
              <a:gd name="adj" fmla="val 11429"/>
            </a:avLst>
          </a:prstGeom>
          <a:solidFill>
            <a:srgbClr val="E9F3ED"/>
          </a:solidFill>
          <a:ln w="17780">
            <a:solidFill>
              <a:srgbClr val="2C7A5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281160" y="4343400"/>
            <a:ext cx="21122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F6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הסטטוס גלוי למבוטח בכל רגע.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"פרטים נוספים" — התמונה המלאה של התכנית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60704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אזורים, וזה מה שהוא רואה בכל אחד</a:t>
            </a:r>
            <a:endParaRPr lang="en-US" sz="15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מצפן זכויות איבה · מדריך לעובד · אגף שיקום</a:t>
            </a:r>
            <a:endParaRPr lang="en-US" sz="1000" dirty="0"/>
          </a:p>
        </p:txBody>
      </p:sp>
      <p:pic>
        <p:nvPicPr>
          <p:cNvPr id="6" name="Image 1" descr="/home/user/mazpen-m.r/build/deck/assets/emp_detai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3226" y="1554480"/>
            <a:ext cx="5060300" cy="42976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193792" y="1783080"/>
            <a:ext cx="384048" cy="384048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19379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1755648"/>
            <a:ext cx="43616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פרטי ההטבה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084832"/>
            <a:ext cx="4361688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משקף את התכנית שאושרה בתיק השיקום — סטטוס, תקופה, סכום וסוג תשלום.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193792" y="3154680"/>
            <a:ext cx="384048" cy="384048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193792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3127248"/>
            <a:ext cx="43616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מימוש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3456432"/>
            <a:ext cx="4361688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 עם סכום ההטבה או כמות הטיפולים: כמה נוצל וכמה עוד ניתן לנצל.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5193792" y="4526280"/>
            <a:ext cx="384048" cy="384048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193792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5800" y="4498848"/>
            <a:ext cx="43616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בקשות להחזר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4828032"/>
            <a:ext cx="4361688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קבלה שהוגשה — מספר, סכום, הסכום שאושר, והורדה של הקבלה עצמה.</a:t>
            </a:r>
            <a:endParaRPr lang="en-US" sz="1450" dirty="0"/>
          </a:p>
        </p:txBody>
      </p:sp>
      <p:sp>
        <p:nvSpPr>
          <p:cNvPr id="19" name="Text 15"/>
          <p:cNvSpPr txBox="1"/>
          <p:nvPr/>
        </p:nvSpPr>
        <p:spPr>
          <a:xfrm>
            <a:off x="685800" y="553212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C7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בתכנית פעילה מופיע גם הכפתור להגשת חשבונית או קבלה חדשה.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הטבות פוטנציאליות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60704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לפי הפרופיל האישי — ומה קורה כשהוא לוחץ</a:t>
            </a:r>
            <a:endParaRPr lang="en-US" sz="15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מצפן זכויות איבה · מדריך לעובד · אגף שיקום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64592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מוצג מגוון הטבות שייתכן שהמבוטח זכאי להן, אך הוא עדיין לא בדק את זכאותו ולא ביקש אותן בעבר. הוא יכול להיכנס לכל אחת מהן ולהגיש בקשה לבדיקת זכאות — בשתי דרכים: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368796" y="2697480"/>
            <a:ext cx="513435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0320">
            <a:solidFill>
              <a:srgbClr val="1F7A4D"/>
            </a:solidFill>
            <a:prstDash val="solid"/>
          </a:ln>
        </p:spPr>
      </p:sp>
      <p:pic>
        <p:nvPicPr>
          <p:cNvPr id="8" name="Image 1" descr="/home/user/mazpen-m.r/build/deck/assets/btn_requ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472" y="2926080"/>
            <a:ext cx="1586799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661404" y="3520440"/>
            <a:ext cx="45491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טופס מקוון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661404" y="3950208"/>
            <a:ext cx="45491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הבקשה נכנסת כטופס מקוון ומגיעה אלינו לטיפול.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685800" y="2697480"/>
            <a:ext cx="513435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0320">
            <a:solidFill>
              <a:srgbClr val="6B3FA0"/>
            </a:solidFill>
            <a:prstDash val="solid"/>
          </a:ln>
        </p:spPr>
      </p:sp>
      <p:pic>
        <p:nvPicPr>
          <p:cNvPr id="12" name="Image 2" descr="/home/user/mazpen-m.r/build/deck/assets/btn_inqui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476" y="2926080"/>
            <a:ext cx="1586799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78408" y="3520440"/>
            <a:ext cx="45491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6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שליחת פנייה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978408" y="3950208"/>
            <a:ext cx="45491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הפנייה נשלחת למקום המתאים: מוקד רכב, דיור, או עובד השיקום.</a:t>
            </a:r>
            <a:endParaRPr lang="en-US" sz="1550" dirty="0"/>
          </a:p>
        </p:txBody>
      </p:sp>
      <p:sp>
        <p:nvSpPr>
          <p:cNvPr id="15" name="Shape 10"/>
          <p:cNvSpPr/>
          <p:nvPr/>
        </p:nvSpPr>
        <p:spPr>
          <a:xfrm>
            <a:off x="685800" y="5074920"/>
            <a:ext cx="108173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5074920"/>
            <a:ext cx="10817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בשני המקרים הבקשה מופיעה למבוטח במצפן, והוא עוקב אחריה משם.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הגשת חשבונית או קבלה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60704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בתכנית פעילה — וזה מה שהוא מקבל בסוף</a:t>
            </a:r>
            <a:endParaRPr lang="en-US" sz="15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מצפן זכויות איבה · מדריך לעובד · אגף שיקום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769864" y="1737360"/>
            <a:ext cx="402336" cy="402336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6986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170992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בתכנית פעילה, לחיצה על "להגשת חשבונית / קבלה חדשה".</a:t>
            </a:r>
            <a:endParaRPr lang="en-US" sz="1650" dirty="0"/>
          </a:p>
        </p:txBody>
      </p:sp>
      <p:sp>
        <p:nvSpPr>
          <p:cNvPr id="9" name="Shape 6"/>
          <p:cNvSpPr/>
          <p:nvPr/>
        </p:nvSpPr>
        <p:spPr>
          <a:xfrm>
            <a:off x="5769864" y="2606040"/>
            <a:ext cx="402336" cy="402336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769864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57860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נפתח טופס מקוון עם פרטיו, כולל היתרה למימוש.</a:t>
            </a:r>
            <a:endParaRPr lang="en-US" sz="1650" dirty="0"/>
          </a:p>
        </p:txBody>
      </p:sp>
      <p:sp>
        <p:nvSpPr>
          <p:cNvPr id="12" name="Shape 9"/>
          <p:cNvSpPr/>
          <p:nvPr/>
        </p:nvSpPr>
        <p:spPr>
          <a:xfrm>
            <a:off x="5769864" y="3474720"/>
            <a:ext cx="402336" cy="402336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769864" y="3474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44728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 מצרף את המסמכים הרלוונטיים לאותה הטבה.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5769864" y="4343400"/>
            <a:ext cx="402336" cy="402336"/>
          </a:xfrm>
          <a:prstGeom prst="ellipse">
            <a:avLst/>
          </a:prstGeom>
          <a:solidFill>
            <a:srgbClr val="2C7A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9864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431596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לאחר השליחה מופיעה הודעת אישור.</a:t>
            </a:r>
            <a:endParaRPr lang="en-US" sz="1650" dirty="0"/>
          </a:p>
        </p:txBody>
      </p:sp>
      <p:pic>
        <p:nvPicPr>
          <p:cNvPr id="18" name="Image 1" descr="/home/user/mazpen-m.r/build/deck/assets/emp_s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08188"/>
            <a:ext cx="5010912" cy="1618663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492240" y="4206240"/>
            <a:ext cx="5010912" cy="1371600"/>
          </a:xfrm>
          <a:prstGeom prst="roundRect">
            <a:avLst>
              <a:gd name="adj" fmla="val 8000"/>
            </a:avLst>
          </a:prstGeom>
          <a:solidFill>
            <a:srgbClr val="FBEFE6"/>
          </a:solidFill>
          <a:ln w="19050">
            <a:solidFill>
              <a:srgbClr val="B85C22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12280" y="4206240"/>
            <a:ext cx="44165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המסמכים הנדרשים משתנים מהטבה להטבה, והם מפורטים בטופס עצמו.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B85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הודעת האישור אומרת שהפנייה נקלטה — לא שהזכאות אושרה.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/home/user/mazpen-m.r/build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7200"/>
            <a:ext cx="1554480" cy="56692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2176272"/>
            <a:ext cx="108173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FC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החלק השלישי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685800" y="2560320"/>
            <a:ext cx="108173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משנה בעבודה שלנו</a:t>
            </a:r>
            <a:endParaRPr lang="en-US" sz="5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3611880"/>
            <a:ext cx="10817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C3D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 המסמך מהמצפן אל התיק — והכללים שחייבים לזכור.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 המסמך מהמצפן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60704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תהליך העבודה בתיק השיקום לטפסים המקוונים</a:t>
            </a:r>
            <a:endParaRPr lang="en-US" sz="15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מצפן זכויות איבה · מדריך לעובד · אגף שיקום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2382012" y="2249424"/>
            <a:ext cx="7498080" cy="18288"/>
          </a:xfrm>
          <a:prstGeom prst="rect">
            <a:avLst/>
          </a:prstGeom>
          <a:solidFill>
            <a:srgbClr val="CFE0D5"/>
          </a:solidFill>
          <a:ln/>
        </p:spPr>
      </p:sp>
      <p:sp>
        <p:nvSpPr>
          <p:cNvPr id="7" name="Shape 4"/>
          <p:cNvSpPr/>
          <p:nvPr/>
        </p:nvSpPr>
        <p:spPr>
          <a:xfrm>
            <a:off x="9605772" y="1984248"/>
            <a:ext cx="548640" cy="548640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5772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57032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1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המבוטח מגיש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8439912" y="31546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טופס מקוון מהמצפן, עם המסמכים.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856732" y="1984248"/>
            <a:ext cx="548640" cy="548640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6732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507992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1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רובוט מפענח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690872" y="31546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מסמך שמגיע מהמצפן — גם מסמך שאינו חשבונית או קבלה.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2107692" y="1984248"/>
            <a:ext cx="548640" cy="548640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107692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58952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1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אישור החלטה למגשרת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941832" y="31546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כשיש תכנית פתוחה.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85800" y="4206240"/>
            <a:ext cx="10817352" cy="1417320"/>
          </a:xfrm>
          <a:prstGeom prst="roundRect">
            <a:avLst>
              <a:gd name="adj" fmla="val 7742"/>
            </a:avLst>
          </a:prstGeom>
          <a:solidFill>
            <a:srgbClr val="FBEFE6"/>
          </a:solidFill>
          <a:ln w="20320">
            <a:solidFill>
              <a:srgbClr val="B85C2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51560" y="4370832"/>
            <a:ext cx="10085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B85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תכניות שאינן עוברות למגשרת: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4773168"/>
            <a:ext cx="10085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תכנית ליווי אישית ליתומים (תל"א)   ·   התערבות לרווחה רגשית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קבלה שהועלתה לתכנית לא מתאימה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60704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מצבים — ולכל אחד טיפול אחר</a:t>
            </a:r>
            <a:endParaRPr lang="en-US" sz="15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מצפן זכויות איבה · מדריך לעובד · אגף שיקום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368796" y="1645920"/>
            <a:ext cx="5134356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20320">
            <a:solidFill>
              <a:srgbClr val="2C7A5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88836" y="187452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2C7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המגשרת שמה לב בפענוח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10936224" y="2578608"/>
            <a:ext cx="128016" cy="128016"/>
          </a:xfrm>
          <a:prstGeom prst="ellipse">
            <a:avLst/>
          </a:prstGeom>
          <a:solidFill>
            <a:srgbClr val="2C7A5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88836" y="2468880"/>
            <a:ext cx="417423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משנה את השיוך ומשייכת להטבה קיימת, או פותחת חדשה בעזרת +.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10936224" y="3538728"/>
            <a:ext cx="128016" cy="128016"/>
          </a:xfrm>
          <a:prstGeom prst="ellipse">
            <a:avLst/>
          </a:prstGeom>
          <a:solidFill>
            <a:srgbClr val="2C7A5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88836" y="3429000"/>
            <a:ext cx="417423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בעת הפענוח היא רואה את יתרת סכום התכנית, כדי לשייך במדויק.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10936224" y="4498848"/>
            <a:ext cx="128016" cy="128016"/>
          </a:xfrm>
          <a:prstGeom prst="ellipse">
            <a:avLst/>
          </a:prstGeom>
          <a:solidFill>
            <a:srgbClr val="2C7A5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88836" y="4389120"/>
            <a:ext cx="417423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המבוטח יראה במצפן: "בקשה זו הועברה לטיפול בהטבה X".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685800" y="1645920"/>
            <a:ext cx="5134356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20320">
            <a:solidFill>
              <a:srgbClr val="B85C2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1874520"/>
            <a:ext cx="4494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B85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העו"ס מגלה בפתיחת התכנית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253228" y="2578608"/>
            <a:ext cx="128016" cy="128016"/>
          </a:xfrm>
          <a:prstGeom prst="ellipse">
            <a:avLst/>
          </a:prstGeom>
          <a:solidFill>
            <a:srgbClr val="B85C2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05840" y="2468880"/>
            <a:ext cx="417423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תמיד לפתוח את התכנית — גם אם היא שגויה.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5253228" y="3538728"/>
            <a:ext cx="128016" cy="128016"/>
          </a:xfrm>
          <a:prstGeom prst="ellipse">
            <a:avLst/>
          </a:prstGeom>
          <a:solidFill>
            <a:srgbClr val="B85C2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05840" y="3429000"/>
            <a:ext cx="417423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לדחות אותה עם הנימוק "התכנית שנבחרה אינה מתאימה להטבה המבוקשת".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253228" y="4498848"/>
            <a:ext cx="128016" cy="128016"/>
          </a:xfrm>
          <a:prstGeom prst="ellipse">
            <a:avLst/>
          </a:prstGeom>
          <a:solidFill>
            <a:srgbClr val="B85C2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05840" y="4389120"/>
            <a:ext cx="417423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לפתוח תכנית שכן מתאימה למסמך, ולסרוק את המסמך מחדש.</a:t>
            </a:r>
            <a:endParaRPr lang="en-US" sz="155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5577840"/>
            <a:ext cx="108173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 משתקף למבוטח במצפן, בזמן אמת.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/home/user/mazpen-m.r/build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7200"/>
            <a:ext cx="1554480" cy="56692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691640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FC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 שאסור לשכוח</a:t>
            </a:r>
            <a:endParaRPr lang="en-US" sz="1600" dirty="0"/>
          </a:p>
        </p:txBody>
      </p:sp>
      <p:sp>
        <p:nvSpPr>
          <p:cNvPr id="5" name="Text 1"/>
          <p:cNvSpPr txBox="1"/>
          <p:nvPr/>
        </p:nvSpPr>
        <p:spPr>
          <a:xfrm>
            <a:off x="685800" y="2103120"/>
            <a:ext cx="108173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 העו"ס תמיד לפתוח תכנית</a:t>
            </a:r>
            <a:endParaRPr lang="en-US" sz="46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3063240"/>
            <a:ext cx="108173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200" dirty="0">
                <a:solidFill>
                  <a:srgbClr val="C3D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כשברור שהתכנית שנבחרה שגויה.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85800" y="3840480"/>
            <a:ext cx="10817352" cy="1143000"/>
          </a:xfrm>
          <a:prstGeom prst="roundRect">
            <a:avLst>
              <a:gd name="adj" fmla="val 9600"/>
            </a:avLst>
          </a:prstGeom>
          <a:solidFill>
            <a:srgbClr val="2A4A3E"/>
          </a:solidFill>
          <a:ln w="17780">
            <a:solidFill>
              <a:srgbClr val="8FC7A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051560" y="3840480"/>
            <a:ext cx="1008583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לא פותחים את התכנית — היא נעלמת מהמצפן. </a:t>
            </a:r>
            <a:pPr algn="r" indent="0" marL="0">
              <a:buNone/>
            </a:pPr>
            <a:r>
              <a:rPr lang="en-US" sz="1900" dirty="0">
                <a:solidFill>
                  <a:srgbClr val="E4F0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המבוטח מגיש, ואז לא רואה כלום. משם מתחילות הפניות.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5257800"/>
            <a:ext cx="10817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← דוחים עם הנימוק המתאים ← פותחים תכנית נכונה ← סורקים מחדש.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וזה מה שהמבוטח רואה בינתיים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60704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647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הפעולה שלנו מופיעה אצלו כטקסט, מילה במילה</a:t>
            </a:r>
            <a:endParaRPr lang="en-US" sz="15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מצפן זכויות איבה · מדריך לעובד · אגף שיקום</a:t>
            </a:r>
            <a:endParaRPr lang="en-US" sz="1000" dirty="0"/>
          </a:p>
        </p:txBody>
      </p:sp>
      <p:pic>
        <p:nvPicPr>
          <p:cNvPr id="6" name="Image 1" descr="/home/user/mazpen-m.r/build/deck/assets/emp_mov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790" y="1828800"/>
            <a:ext cx="9013371" cy="1371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141208" y="3566160"/>
            <a:ext cx="336194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415528" y="3794760"/>
            <a:ext cx="2813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סיבת הדחייה</a:t>
            </a:r>
            <a:endParaRPr lang="en-US" sz="1750" dirty="0"/>
          </a:p>
        </p:txBody>
      </p:sp>
      <p:sp>
        <p:nvSpPr>
          <p:cNvPr id="9" name="Text 5"/>
          <p:cNvSpPr txBox="1"/>
          <p:nvPr/>
        </p:nvSpPr>
        <p:spPr>
          <a:xfrm>
            <a:off x="8415528" y="4224528"/>
            <a:ext cx="2813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הנימוק שנבחר באישור ההחלטה הוא הטקסט שהוא קורא. שווה לבחור אותו בקפידה.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413504" y="3566160"/>
            <a:ext cx="336194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687824" y="3794760"/>
            <a:ext cx="2813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ההעברה להטבה אחרת</a:t>
            </a:r>
            <a:endParaRPr lang="en-US" sz="1750" dirty="0"/>
          </a:p>
        </p:txBody>
      </p:sp>
      <p:sp>
        <p:nvSpPr>
          <p:cNvPr id="12" name="Text 8"/>
          <p:cNvSpPr txBox="1"/>
          <p:nvPr/>
        </p:nvSpPr>
        <p:spPr>
          <a:xfrm>
            <a:off x="4687824" y="4224528"/>
            <a:ext cx="2813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מופיעה אצלו כ"בקשה זו הועברה לטיפול בהטבה X" — הוא יודע שהקבלה לא אבדה.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85800" y="3566160"/>
            <a:ext cx="336194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60120" y="3794760"/>
            <a:ext cx="2813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צורך שיגיש שוב</a:t>
            </a:r>
            <a:endParaRPr lang="en-US" sz="175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4224528"/>
            <a:ext cx="2813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וזה מה שנאמר לו כשהוא מתקשר לשאול.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s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חמישה דברים לקחת מכאן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מצפן זכויות איבה · מדריך לעובד · אגף שיקום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685800" y="1691640"/>
            <a:ext cx="108173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908792" y="1892808"/>
            <a:ext cx="384048" cy="384048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08792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1691640"/>
            <a:ext cx="37947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המצפן מציג שנתיים אחורה</a:t>
            </a:r>
            <a:endParaRPr lang="en-US" sz="175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691640"/>
            <a:ext cx="60350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"לא מופיע במצפן" אינו "לא מגיע לי".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85800" y="2606040"/>
            <a:ext cx="108173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908792" y="2807208"/>
            <a:ext cx="384048" cy="384048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908792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2606040"/>
            <a:ext cx="37947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תמיד לפתוח תכנית</a:t>
            </a:r>
            <a:endParaRPr lang="en-US" sz="175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606040"/>
            <a:ext cx="60350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אחרת היא נעלמת מהמצפן, והמבוטח לא רואה דבר.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85800" y="3520440"/>
            <a:ext cx="108173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908792" y="3721608"/>
            <a:ext cx="384048" cy="384048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08792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3520440"/>
            <a:ext cx="37947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הנימוק נקרא על ידי המבוטח</a:t>
            </a:r>
            <a:endParaRPr lang="en-US" sz="175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3520440"/>
            <a:ext cx="60350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סיבת הדחייה מאישור ההחלטה מוצגת לו כלשונה.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685800" y="4434840"/>
            <a:ext cx="108173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908792" y="4636008"/>
            <a:ext cx="384048" cy="384048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08792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49440" y="4434840"/>
            <a:ext cx="37947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קבלה בתכנית שגויה לא אובדת</a:t>
            </a:r>
            <a:endParaRPr lang="en-US" sz="175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4434840"/>
            <a:ext cx="60350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משייכים אותה, והוא רואה "הועברה לטיפול בהטבה X".</a:t>
            </a:r>
            <a:endParaRPr lang="en-US" sz="1550" dirty="0"/>
          </a:p>
        </p:txBody>
      </p:sp>
      <p:sp>
        <p:nvSpPr>
          <p:cNvPr id="25" name="Shape 22"/>
          <p:cNvSpPr/>
          <p:nvPr/>
        </p:nvSpPr>
        <p:spPr>
          <a:xfrm>
            <a:off x="685800" y="5349240"/>
            <a:ext cx="108173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CFE0D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908792" y="5550408"/>
            <a:ext cx="384048" cy="384048"/>
          </a:xfrm>
          <a:prstGeom prst="ellipse">
            <a:avLst/>
          </a:prstGeom>
          <a:solidFill>
            <a:srgbClr val="1447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08792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0" y="5349240"/>
            <a:ext cx="37947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144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"בטיפול" לא דורש הגשה חוזרת</a:t>
            </a:r>
            <a:endParaRPr lang="en-US" sz="175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" y="5349240"/>
            <a:ext cx="60350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1E2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וזה מה שאומרים לו בטלפון.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zpen-m.r/build/deck/assets/bg_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/home/user/mazpen-m.r/build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7200"/>
            <a:ext cx="1554480" cy="56692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2377440"/>
            <a:ext cx="108173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685800" y="3657600"/>
            <a:ext cx="10817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C3D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ומה שנשמע מכם בשטח — חוזר אלינו ונכנס לגרסה הבאה של המצפן.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2026-09-08T06:43:31Z</dcterms:created>
  <dcterms:modified xsi:type="dcterms:W3CDTF">2026-09-08T06:43:31Z</dcterms:modified>
</cp:coreProperties>
</file>