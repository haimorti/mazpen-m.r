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mazpen-m.r/build/deck/assets/bg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566928"/>
            <a:ext cx="107259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200" b="1" spc="200" kern="0" dirty="0">
                <a:solidFill>
                  <a:srgbClr val="A293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 ס ל ו ל   ה ה ט ב ה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868680"/>
            <a:ext cx="10725912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3E5A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חמישה סטטוסים, מסלול אחד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627632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הסטטוס יושב בשורת ההטבה, והוא מתעדכן לבד. זה כל מה שצריך לדעת כדי לקרוא אותו.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1952244" y="3328416"/>
            <a:ext cx="8503920" cy="18288"/>
          </a:xfrm>
          <a:prstGeom prst="rect">
            <a:avLst/>
          </a:prstGeom>
          <a:solidFill>
            <a:srgbClr val="DED3C2"/>
          </a:solidFill>
          <a:ln/>
        </p:spPr>
      </p:sp>
      <p:sp>
        <p:nvSpPr>
          <p:cNvPr id="7" name="Shape 4"/>
          <p:cNvSpPr/>
          <p:nvPr/>
        </p:nvSpPr>
        <p:spPr>
          <a:xfrm>
            <a:off x="929030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FE8F8"/>
          </a:solidFill>
          <a:ln w="19050">
            <a:solidFill>
              <a:srgbClr val="5E3A9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1146536" y="3246120"/>
            <a:ext cx="182880" cy="182880"/>
          </a:xfrm>
          <a:prstGeom prst="ellipse">
            <a:avLst/>
          </a:prstGeom>
          <a:solidFill>
            <a:srgbClr val="5E3A94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47318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5E3A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פוטנציאלי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929030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עוד לא ביקשת. ייתכן שאתה זכאי — ואפשר להגיש בקשה.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8878824" y="3236976"/>
            <a:ext cx="310896" cy="201168"/>
          </a:xfrm>
          <a:prstGeom prst="leftArrow">
            <a:avLst/>
          </a:prstGeom>
          <a:solidFill>
            <a:srgbClr val="DED3C2"/>
          </a:solidFill>
          <a:ln/>
        </p:spPr>
      </p:sp>
      <p:sp>
        <p:nvSpPr>
          <p:cNvPr id="12" name="Shape 9"/>
          <p:cNvSpPr/>
          <p:nvPr/>
        </p:nvSpPr>
        <p:spPr>
          <a:xfrm>
            <a:off x="645566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FF1CF"/>
          </a:solidFill>
          <a:ln w="19050">
            <a:solidFill>
              <a:srgbClr val="8A5B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11896" y="3246120"/>
            <a:ext cx="182880" cy="182880"/>
          </a:xfrm>
          <a:prstGeom prst="ellipse">
            <a:avLst/>
          </a:prstGeom>
          <a:solidFill>
            <a:srgbClr val="8A5B00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63854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8A5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בטיפול</a:t>
            </a:r>
            <a:endParaRPr lang="en-US" sz="1900" dirty="0"/>
          </a:p>
        </p:txBody>
      </p:sp>
      <p:sp>
        <p:nvSpPr>
          <p:cNvPr id="15" name="Text 12"/>
          <p:cNvSpPr txBox="1"/>
          <p:nvPr/>
        </p:nvSpPr>
        <p:spPr>
          <a:xfrm>
            <a:off x="645566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הבקשה הוגשה ועדיין אין החלטה. אין צורך להגיש שוב.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6044184" y="3236976"/>
            <a:ext cx="310896" cy="201168"/>
          </a:xfrm>
          <a:prstGeom prst="leftArrow">
            <a:avLst/>
          </a:prstGeom>
          <a:solidFill>
            <a:srgbClr val="DED3C2"/>
          </a:solidFill>
          <a:ln/>
        </p:spPr>
      </p:sp>
      <p:sp>
        <p:nvSpPr>
          <p:cNvPr id="17" name="Shape 14"/>
          <p:cNvSpPr/>
          <p:nvPr/>
        </p:nvSpPr>
        <p:spPr>
          <a:xfrm>
            <a:off x="362102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3F3E9"/>
          </a:solidFill>
          <a:ln w="19050">
            <a:solidFill>
              <a:srgbClr val="1F6E4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477256" y="3246120"/>
            <a:ext cx="182880" cy="182880"/>
          </a:xfrm>
          <a:prstGeom prst="ellipse">
            <a:avLst/>
          </a:prstGeom>
          <a:solidFill>
            <a:srgbClr val="1F6E43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380390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פעילה</a:t>
            </a:r>
            <a:endParaRPr lang="en-US" sz="1900" dirty="0"/>
          </a:p>
        </p:txBody>
      </p:sp>
      <p:sp>
        <p:nvSpPr>
          <p:cNvPr id="20" name="Text 17"/>
          <p:cNvSpPr txBox="1"/>
          <p:nvPr/>
        </p:nvSpPr>
        <p:spPr>
          <a:xfrm>
            <a:off x="362102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אושרה, התקופה בתוקף ויש יתרה. כאן מגישים קבלות.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3209544" y="3236976"/>
            <a:ext cx="310896" cy="201168"/>
          </a:xfrm>
          <a:prstGeom prst="leftArrow">
            <a:avLst/>
          </a:prstGeom>
          <a:solidFill>
            <a:srgbClr val="DED3C2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3054096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E8EEF4"/>
          </a:solidFill>
          <a:ln w="19050">
            <a:solidFill>
              <a:srgbClr val="4E5F7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642616" y="3246120"/>
            <a:ext cx="182880" cy="182880"/>
          </a:xfrm>
          <a:prstGeom prst="ellipse">
            <a:avLst/>
          </a:prstGeom>
          <a:solidFill>
            <a:srgbClr val="4E5F72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969264" y="3054096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4E5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הסתיימה</a:t>
            </a:r>
            <a:endParaRPr lang="en-US" sz="1900" dirty="0"/>
          </a:p>
        </p:txBody>
      </p:sp>
      <p:sp>
        <p:nvSpPr>
          <p:cNvPr id="25" name="Text 22"/>
          <p:cNvSpPr txBox="1"/>
          <p:nvPr/>
        </p:nvSpPr>
        <p:spPr>
          <a:xfrm>
            <a:off x="786384" y="3831336"/>
            <a:ext cx="23317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נוצלה במלואה, או שתקופת הזכאות חלפה.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7607808" y="4901184"/>
            <a:ext cx="27432" cy="594360"/>
          </a:xfrm>
          <a:prstGeom prst="rect">
            <a:avLst/>
          </a:prstGeom>
          <a:solidFill>
            <a:srgbClr val="DED3C2"/>
          </a:solidFill>
          <a:ln/>
        </p:spPr>
      </p:sp>
      <p:sp>
        <p:nvSpPr>
          <p:cNvPr id="27" name="Shape 24"/>
          <p:cNvSpPr/>
          <p:nvPr/>
        </p:nvSpPr>
        <p:spPr>
          <a:xfrm>
            <a:off x="6455664" y="5495544"/>
            <a:ext cx="2331720" cy="566928"/>
          </a:xfrm>
          <a:prstGeom prst="roundRect">
            <a:avLst>
              <a:gd name="adj" fmla="val 50000"/>
            </a:avLst>
          </a:prstGeom>
          <a:solidFill>
            <a:srgbClr val="FBE8E6"/>
          </a:solidFill>
          <a:ln w="19050">
            <a:solidFill>
              <a:srgbClr val="A8281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311896" y="5687568"/>
            <a:ext cx="182880" cy="182880"/>
          </a:xfrm>
          <a:prstGeom prst="ellipse">
            <a:avLst/>
          </a:prstGeom>
          <a:solidFill>
            <a:srgbClr val="A828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38544" y="5495544"/>
            <a:ext cx="1645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900" b="1" dirty="0">
                <a:solidFill>
                  <a:srgbClr val="A828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נדחתה</a:t>
            </a:r>
            <a:endParaRPr lang="en-US" sz="1900" dirty="0"/>
          </a:p>
        </p:txBody>
      </p:sp>
      <p:sp>
        <p:nvSpPr>
          <p:cNvPr id="30" name="Text 27"/>
          <p:cNvSpPr txBox="1"/>
          <p:nvPr/>
        </p:nvSpPr>
        <p:spPr>
          <a:xfrm>
            <a:off x="3438144" y="559612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5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סיבת הדחייה מופיעה על כרטיס ההטבה עצמו.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9290304" y="5294376"/>
            <a:ext cx="23317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E6DCC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9491472" y="5413248"/>
            <a:ext cx="192938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F6E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רק ב"פעילה" </a:t>
            </a:r>
            <a:pPr algn="r" indent="0" marL="0">
              <a:buNone/>
            </a:pPr>
            <a:r>
              <a:rPr lang="en-US" sz="1500" dirty="0">
                <a:solidFill>
                  <a:srgbClr val="2A27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אפשר להגיש חשבוניות וקבלות.</a:t>
            </a:r>
            <a:endParaRPr lang="en-US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731520" y="6327648"/>
            <a:ext cx="10725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000" dirty="0">
                <a:solidFill>
                  <a:srgbClr val="7A72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מצפן זכויות איבה · הביטוח הלאומי, אגף שיקום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2026-09-07T13:18:27Z</dcterms:created>
  <dcterms:modified xsi:type="dcterms:W3CDTF">2026-09-07T13:18:27Z</dcterms:modified>
</cp:coreProperties>
</file>